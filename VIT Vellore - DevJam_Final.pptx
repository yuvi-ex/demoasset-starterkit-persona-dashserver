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97" r:id="rId1"/>
  </p:sldMasterIdLst>
  <p:notesMasterIdLst>
    <p:notesMasterId r:id="rId17"/>
  </p:notesMasterIdLst>
  <p:sldIdLst>
    <p:sldId id="2147482460" r:id="rId2"/>
    <p:sldId id="2147482452" r:id="rId3"/>
    <p:sldId id="2147482458" r:id="rId4"/>
    <p:sldId id="2147482480" r:id="rId5"/>
    <p:sldId id="2147482492" r:id="rId6"/>
    <p:sldId id="2147482488" r:id="rId7"/>
    <p:sldId id="2147482497" r:id="rId8"/>
    <p:sldId id="2147482489" r:id="rId9"/>
    <p:sldId id="2147482493" r:id="rId10"/>
    <p:sldId id="2147482491" r:id="rId11"/>
    <p:sldId id="2147482494" r:id="rId12"/>
    <p:sldId id="2147482501" r:id="rId13"/>
    <p:sldId id="2147482477" r:id="rId14"/>
    <p:sldId id="2147482476" r:id="rId15"/>
    <p:sldId id="214748249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6505497-4828-6790-DB20-53B4A73065BF}" name="Abhijeet Gupte" initials="AG" userId="S::abhijeet.gupte@exasol.com::28cf3f15-2d4b-49ee-a3c0-6b1cd046dd7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69"/>
    <p:restoredTop sz="94550"/>
  </p:normalViewPr>
  <p:slideViewPr>
    <p:cSldViewPr snapToGrid="0">
      <p:cViewPr varScale="1">
        <p:scale>
          <a:sx n="130" d="100"/>
          <a:sy n="130" d="100"/>
        </p:scale>
        <p:origin x="1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CBCCB-CAC6-2D4E-AAC2-BA86911176BB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33DCB-A56F-4B4A-8196-9C4C33574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34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FBB4A-97F9-4288-9D46-5072E0C1C0C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5386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F55C3-C392-F9B0-038E-7AE8B13BA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98EF1B-78FF-90BD-999A-F0111F5CA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EFAA9C-FE6B-3956-DC7C-F2D5D8C87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9750E-B5D0-D3E2-AA7A-6B3DA52ED0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4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1352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BEFBA-F215-E654-B737-F8462D55E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304C3-3F5C-6FE9-4D8F-0AD70653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D59B54-3DEA-45E7-36F0-955CE9DF6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7F880-A947-9C09-6899-369A526357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5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255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0AA2E-0CC4-F56B-45F6-B41A2BCC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692D5B-F3DA-8851-DC30-8C98F1D87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86C8D-E16A-E04C-CA6E-65264F7CD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1CB77-4117-312A-DFBE-5D04C037AF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1919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71F2-F8CC-FC46-DA2D-65338B957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31CE2-14EB-3B42-64C1-2650C151F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AA767-C83B-CA20-B533-E8787457E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63C21-8234-DB8A-073F-B16EC5AC76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0207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CCD52-68BE-C587-4705-EA68B0608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2EC95-C3F4-1C20-AD32-4086864A7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F1998-92EA-3953-7DFA-E906EA94A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0E503-2E85-B755-2360-7126CB1E8D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8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1158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19417-0ABF-AEED-5FF7-BB85D3AB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1BABA-66F3-5E07-1CE2-14D6404B5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80740-8095-5F41-56F4-6C961F9C9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0EBE6-46F1-CD1A-0F55-C9A42E0A09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9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2658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9A2C4-CCF2-238E-0AD6-A5D565120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278D88-E3D2-BBFD-5C64-02E7A5827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750FA-E439-3E7A-949B-27D08405E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54B72-94AD-3F81-89DD-4105F33697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10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59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EF2FE-60E4-7C37-B18D-8E55E311D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EFDE3-1EA1-BEDF-EABF-12F6A9B12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03EEB-3FC1-F304-78DA-CAD795EC5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0667E-EB46-123A-0DCC-CF7CA3D848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5058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D332-42AE-F5D5-00B5-13ED4B457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F6D7B-6333-7362-B405-E30E646EF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64591-657D-B56E-E83D-BD2D220CA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4C1A1-0750-5898-4421-EA2C2E43F4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5641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792" y="1267329"/>
            <a:ext cx="9144000" cy="2387600"/>
          </a:xfrm>
        </p:spPr>
        <p:txBody>
          <a:bodyPr anchor="b">
            <a:normAutofit/>
          </a:bodyPr>
          <a:lstStyle>
            <a:lvl1pPr algn="l">
              <a:defRPr sz="4999" b="1" i="0">
                <a:solidFill>
                  <a:srgbClr val="002E40"/>
                </a:solidFill>
                <a:latin typeface="Aptos SemiBold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792" y="3747004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02E40"/>
                </a:solidFill>
              </a:defRPr>
            </a:lvl1pPr>
            <a:lvl2pPr marL="457109" indent="0" algn="ctr">
              <a:buNone/>
              <a:defRPr sz="2000"/>
            </a:lvl2pPr>
            <a:lvl3pPr marL="914217" indent="0" algn="ctr">
              <a:buNone/>
              <a:defRPr sz="1800"/>
            </a:lvl3pPr>
            <a:lvl4pPr marL="1371326" indent="0" algn="ctr">
              <a:buNone/>
              <a:defRPr sz="1600"/>
            </a:lvl4pPr>
            <a:lvl5pPr marL="1828434" indent="0" algn="ctr">
              <a:buNone/>
              <a:defRPr sz="1600"/>
            </a:lvl5pPr>
            <a:lvl6pPr marL="2285543" indent="0" algn="ctr">
              <a:buNone/>
              <a:defRPr sz="1600"/>
            </a:lvl6pPr>
            <a:lvl7pPr marL="2742651" indent="0" algn="ctr">
              <a:buNone/>
              <a:defRPr sz="1600"/>
            </a:lvl7pPr>
            <a:lvl8pPr marL="3199760" indent="0" algn="ctr">
              <a:buNone/>
              <a:defRPr sz="1600"/>
            </a:lvl8pPr>
            <a:lvl9pPr marL="365686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8420971-484E-0856-D06C-A95D88B3E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0792" y="6356351"/>
            <a:ext cx="41148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50" b="0" i="0">
                <a:solidFill>
                  <a:schemeClr val="tx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Copyright © 2026 </a:t>
            </a:r>
            <a:r>
              <a:rPr lang="en-US" err="1"/>
              <a:t>Exasol</a:t>
            </a:r>
            <a:r>
              <a:rPr lang="en-US"/>
              <a:t>. All rights reserved. 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E2FFC7A9-7F00-0E2D-1545-434C8B243C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45381" y="279825"/>
            <a:ext cx="1481480" cy="59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791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pc="-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4A780-7CB0-054D-A35D-705A27504F5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65B3977-FEF1-194E-E2D8-5FACC769E3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0792" y="6356351"/>
            <a:ext cx="41148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50" b="0" i="0">
                <a:solidFill>
                  <a:schemeClr val="tx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Copyright © 2026 </a:t>
            </a:r>
            <a:r>
              <a:rPr lang="en-US" err="1"/>
              <a:t>Exasol</a:t>
            </a:r>
            <a:r>
              <a:rPr lang="en-US"/>
              <a:t>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74132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09E4C37-7A4D-A824-148B-DCB64480BE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404" imgH="405" progId="TCLayout.ActiveDocument.1">
                  <p:embed/>
                </p:oleObj>
              </mc:Choice>
              <mc:Fallback>
                <p:oleObj name="think-cell Folie" r:id="rId5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9E4C37-7A4D-A824-148B-DCB64480BE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792" y="381000"/>
            <a:ext cx="11410258" cy="13096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792" y="1825625"/>
            <a:ext cx="11410258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0792" y="6356351"/>
            <a:ext cx="41148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50" b="0" i="0">
                <a:solidFill>
                  <a:schemeClr val="tx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Copyright © 2026 </a:t>
            </a:r>
            <a:r>
              <a:rPr lang="en-US" err="1"/>
              <a:t>Exasol</a:t>
            </a:r>
            <a:r>
              <a:rPr lang="en-US"/>
              <a:t>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03115" y="6356351"/>
            <a:ext cx="399764" cy="76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750" b="0" i="0">
                <a:solidFill>
                  <a:schemeClr val="tx1"/>
                </a:solidFill>
                <a:latin typeface="Aptos Light" panose="020B0004020202020204" pitchFamily="34" charset="0"/>
              </a:defRPr>
            </a:lvl1pPr>
          </a:lstStyle>
          <a:p>
            <a:fld id="{FE54A780-7CB0-054D-A35D-705A27504F5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429CA9-9001-D489-0D00-335555123F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905143" y="6276918"/>
            <a:ext cx="548027" cy="22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9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8" r:id="rId1"/>
    <p:sldLayoutId id="2147484308" r:id="rId2"/>
  </p:sldLayoutIdLst>
  <p:hf hd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2999" b="1" i="0" kern="1200" spc="-150">
          <a:solidFill>
            <a:srgbClr val="002C44"/>
          </a:solidFill>
          <a:latin typeface="Aptos SemiBold" panose="020B0004020202020204" pitchFamily="34" charset="0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rgbClr val="002E40"/>
          </a:solidFill>
          <a:latin typeface="Aptos Light" panose="020B0004020202020204" pitchFamily="34" charset="0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02E40"/>
          </a:solidFill>
          <a:latin typeface="Aptos Light" panose="020B0004020202020204" pitchFamily="34" charset="0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02E40"/>
          </a:solidFill>
          <a:latin typeface="Aptos Light" panose="020B0004020202020204" pitchFamily="34" charset="0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02E40"/>
          </a:solidFill>
          <a:latin typeface="Aptos Light" panose="020B0004020202020204" pitchFamily="34" charset="0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02E40"/>
          </a:solidFill>
          <a:latin typeface="Aptos Light" panose="020B0004020202020204" pitchFamily="34" charset="0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81">
          <p15:clr>
            <a:srgbClr val="F26B43"/>
          </p15:clr>
        </p15:guide>
        <p15:guide id="2" orient="horz" pos="480">
          <p15:clr>
            <a:srgbClr val="F26B43"/>
          </p15:clr>
        </p15:guide>
        <p15:guide id="3" pos="14882">
          <p15:clr>
            <a:srgbClr val="F26B43"/>
          </p15:clr>
        </p15:guide>
        <p15:guide id="4" orient="horz" pos="7920">
          <p15:clr>
            <a:srgbClr val="F26B43"/>
          </p15:clr>
        </p15:guide>
        <p15:guide id="5" orient="horz" pos="8112">
          <p15:clr>
            <a:srgbClr val="F26B43"/>
          </p15:clr>
        </p15:guide>
        <p15:guide id="6" pos="7513">
          <p15:clr>
            <a:srgbClr val="F26B43"/>
          </p15:clr>
        </p15:guide>
        <p15:guide id="7" pos="787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29">
            <a:extLst>
              <a:ext uri="{FF2B5EF4-FFF2-40B4-BE49-F238E27FC236}">
                <a16:creationId xmlns:a16="http://schemas.microsoft.com/office/drawing/2014/main" id="{4A294F59-2406-ED8C-AA48-542E925208D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4853" t="2331" r="15322" b="12268"/>
          <a:stretch/>
        </p:blipFill>
        <p:spPr>
          <a:xfrm>
            <a:off x="4516596" y="447"/>
            <a:ext cx="7675404" cy="685710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6F0DFA1-7F7B-816C-0772-536C0C400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792" y="1150668"/>
            <a:ext cx="9144000" cy="2387289"/>
          </a:xfrm>
        </p:spPr>
        <p:txBody>
          <a:bodyPr>
            <a:normAutofit/>
          </a:bodyPr>
          <a:lstStyle/>
          <a:p>
            <a:r>
              <a:rPr lang="en-US" spc="-75" dirty="0">
                <a:solidFill>
                  <a:schemeClr val="bg1"/>
                </a:solidFill>
              </a:rPr>
              <a:t>DevJams’26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3A8639A-093E-6326-90DE-6D127800D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498" y="3607721"/>
            <a:ext cx="9144000" cy="1655546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2400" dirty="0">
                <a:solidFill>
                  <a:srgbClr val="5FC33B"/>
                </a:solidFill>
                <a:latin typeface="Aptos Light"/>
              </a:rPr>
              <a:t>Exasol Workshop &amp; Live Demo</a:t>
            </a:r>
          </a:p>
          <a:p>
            <a:r>
              <a:rPr lang="en-US" sz="1800" dirty="0">
                <a:solidFill>
                  <a:schemeClr val="bg1"/>
                </a:solidFill>
                <a:latin typeface="Aptos Light"/>
              </a:rPr>
              <a:t>GDG On Campus, VIT Vellore • 29 August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32D7AC-42C7-7AFB-E778-D94261C674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" t="2000" r="2000" b="12000"/>
          <a:stretch>
            <a:fillRect/>
          </a:stretch>
        </p:blipFill>
        <p:spPr>
          <a:xfrm>
            <a:off x="406400" y="5600700"/>
            <a:ext cx="1752600" cy="482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907A38-98C4-9451-506A-1250A7610D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9200" y="5549900"/>
            <a:ext cx="1041400" cy="533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6BAE27-765E-83FA-FEBF-B597209C671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00" t="2000" r="1500" b="2000"/>
          <a:stretch>
            <a:fillRect/>
          </a:stretch>
        </p:blipFill>
        <p:spPr>
          <a:xfrm>
            <a:off x="3810000" y="5613400"/>
            <a:ext cx="1524000" cy="469900"/>
          </a:xfrm>
          <a:prstGeom prst="rect">
            <a:avLst/>
          </a:prstGeom>
        </p:spPr>
      </p:pic>
      <p:sp>
        <p:nvSpPr>
          <p:cNvPr id="30" name="LogoRule"/>
          <p:cNvSpPr/>
          <p:nvPr/>
        </p:nvSpPr>
        <p:spPr>
          <a:xfrm>
            <a:off x="406400" y="5156200"/>
            <a:ext cx="4927600" cy="0"/>
          </a:xfrm>
          <a:prstGeom prst="line">
            <a:avLst/>
          </a:prstGeom>
          <a:ln w="9525">
            <a:solidFill>
              <a:srgbClr val="C9D3D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ExasolChip">
            <a:extLst>
              <a:ext uri="{FF2B5EF4-FFF2-40B4-BE49-F238E27FC236}">
                <a16:creationId xmlns:a16="http://schemas.microsoft.com/office/drawing/2014/main" id="{A199C099-282C-2C4C-92BC-AC5E2175EC10}"/>
              </a:ext>
            </a:extLst>
          </p:cNvPr>
          <p:cNvSpPr/>
          <p:nvPr/>
        </p:nvSpPr>
        <p:spPr>
          <a:xfrm>
            <a:off x="139700" y="342900"/>
            <a:ext cx="2501900" cy="774700"/>
          </a:xfrm>
          <a:prstGeom prst="roundRect">
            <a:avLst/>
          </a:prstGeom>
          <a:solidFill>
            <a:srgbClr val="093E5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DF60D9-386B-B00D-2C88-F06B0423A9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48" y="322967"/>
            <a:ext cx="1930400" cy="774700"/>
          </a:xfrm>
          <a:prstGeom prst="rect">
            <a:avLst/>
          </a:prstGeom>
        </p:spPr>
      </p:pic>
      <p:sp>
        <p:nvSpPr>
          <p:cNvPr id="10" name="FooterLine">
            <a:extLst>
              <a:ext uri="{FF2B5EF4-FFF2-40B4-BE49-F238E27FC236}">
                <a16:creationId xmlns:a16="http://schemas.microsoft.com/office/drawing/2014/main" id="{CB2215A5-FAD2-D644-9A7C-DA456B6883A3}"/>
              </a:ext>
            </a:extLst>
          </p:cNvPr>
          <p:cNvSpPr txBox="1"/>
          <p:nvPr/>
        </p:nvSpPr>
        <p:spPr>
          <a:xfrm>
            <a:off x="406400" y="6350000"/>
            <a:ext cx="4114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750">
                <a:solidFill>
                  <a:srgbClr val="093E51"/>
                </a:solidFill>
              </a:rPr>
              <a:t>Copyright © 2026 Exasol. All rights reserved.</a:t>
            </a:r>
          </a:p>
        </p:txBody>
      </p:sp>
      <p:sp>
        <p:nvSpPr>
          <p:cNvPr id="11" name="PageNumber">
            <a:extLst>
              <a:ext uri="{FF2B5EF4-FFF2-40B4-BE49-F238E27FC236}">
                <a16:creationId xmlns:a16="http://schemas.microsoft.com/office/drawing/2014/main" id="{03C6FBED-2ED7-A641-9501-9FFD652DCC34}"/>
              </a:ext>
            </a:extLst>
          </p:cNvPr>
          <p:cNvSpPr txBox="1"/>
          <p:nvPr/>
        </p:nvSpPr>
        <p:spPr>
          <a:xfrm>
            <a:off x="11303000" y="6350000"/>
            <a:ext cx="482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750">
                <a:solidFill>
                  <a:srgbClr val="093E5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82118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48A34-9E93-BA95-98EB-4736180F8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C439D0A-D4B2-0C60-588B-5547A17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228554"/>
            <a:fld id="{FE54A780-7CB0-054D-A35D-705A27504F57}" type="slidenum">
              <a:rPr lang="en-US" smtClean="0">
                <a:solidFill>
                  <a:srgbClr val="093E51"/>
                </a:solidFill>
              </a:rPr>
              <a:pPr defTabSz="228554"/>
              <a:t>2</a:t>
            </a:fld>
            <a:endParaRPr lang="en-US">
              <a:solidFill>
                <a:srgbClr val="093E51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E33A83-8E6E-EB74-0D5C-151254AF8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228554"/>
            <a:r>
              <a:rPr lang="en-US">
                <a:solidFill>
                  <a:srgbClr val="093E51"/>
                </a:solidFill>
              </a:rPr>
              <a:t>Copyright © 2026 Exasol. All rights reserved.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2788FA-5530-FCE1-3536-F018F7661074}"/>
              </a:ext>
            </a:extLst>
          </p:cNvPr>
          <p:cNvSpPr txBox="1">
            <a:spLocks/>
          </p:cNvSpPr>
          <p:nvPr/>
        </p:nvSpPr>
        <p:spPr>
          <a:xfrm>
            <a:off x="812800" y="2095500"/>
            <a:ext cx="5969000" cy="3048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i="0" kern="1200" spc="-150" baseline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defTabSz="914217"/>
            <a:r>
              <a:rPr lang="en-US" sz="4400" spc="-75" dirty="0">
                <a:solidFill>
                  <a:srgbClr val="5FC33B"/>
                </a:solidFill>
                <a:latin typeface="Aptos SemiBold"/>
              </a:rPr>
              <a:t>Welcome</a:t>
            </a:r>
          </a:p>
          <a:p>
            <a:pPr defTabSz="914217">
              <a:spcBef>
                <a:spcPts val="1800"/>
              </a:spcBef>
            </a:pPr>
            <a:r>
              <a:rPr lang="en-US" sz="3200" spc="-75" dirty="0">
                <a:solidFill>
                  <a:schemeClr val="bg1"/>
                </a:solidFill>
                <a:latin typeface="Aptos SemiBold"/>
              </a:rPr>
              <a:t>Balajee Rajaram</a:t>
            </a:r>
          </a:p>
          <a:p>
            <a:pPr defTabSz="914217">
              <a:spcBef>
                <a:spcPts val="400"/>
              </a:spcBef>
            </a:pPr>
            <a:r>
              <a:rPr lang="en-US" sz="2000" dirty="0">
                <a:solidFill>
                  <a:srgbClr val="5FC33B"/>
                </a:solidFill>
              </a:rPr>
              <a:t>Head of Exasol India</a:t>
            </a:r>
          </a:p>
        </p:txBody>
      </p:sp>
      <p:sp>
        <p:nvSpPr>
          <p:cNvPr id="40" name="PhotoRing"/>
          <p:cNvSpPr/>
          <p:nvPr/>
        </p:nvSpPr>
        <p:spPr>
          <a:xfrm>
            <a:off x="7442200" y="1600200"/>
            <a:ext cx="3657600" cy="3657600"/>
          </a:xfrm>
          <a:prstGeom prst="ellipse">
            <a:avLst/>
          </a:prstGeom>
          <a:noFill/>
          <a:ln w="19050">
            <a:solidFill>
              <a:srgbClr val="5FC33B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23A99A-B95F-514C-1DF0-BBC8EF7147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0" t="2000" r="9000" b="15000"/>
          <a:stretch>
            <a:fillRect/>
          </a:stretch>
        </p:blipFill>
        <p:spPr>
          <a:xfrm>
            <a:off x="7620000" y="1778000"/>
            <a:ext cx="3302000" cy="3302000"/>
          </a:xfrm>
          <a:prstGeom prst="ellipse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23F077-EB15-E7C3-3F16-C577EADAE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457200"/>
            <a:ext cx="831088" cy="457200"/>
          </a:xfrm>
          <a:prstGeom prst="rect">
            <a:avLst/>
          </a:prstGeom>
        </p:spPr>
      </p:pic>
      <p:sp>
        <p:nvSpPr>
          <p:cNvPr id="5" name="FooterLine">
            <a:extLst>
              <a:ext uri="{FF2B5EF4-FFF2-40B4-BE49-F238E27FC236}">
                <a16:creationId xmlns:a16="http://schemas.microsoft.com/office/drawing/2014/main" id="{1EC6C3C0-08BB-CF47-9C30-E2F385ECB474}"/>
              </a:ext>
            </a:extLst>
          </p:cNvPr>
          <p:cNvSpPr txBox="1"/>
          <p:nvPr/>
        </p:nvSpPr>
        <p:spPr>
          <a:xfrm>
            <a:off x="406400" y="6350000"/>
            <a:ext cx="4114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750">
                <a:solidFill>
                  <a:srgbClr val="093E51"/>
                </a:solidFill>
              </a:rPr>
              <a:t>Copyright © 2026 Exasol. All rights reserved.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A929FCC4-044A-0241-BD1E-3C6F811D1B89}"/>
              </a:ext>
            </a:extLst>
          </p:cNvPr>
          <p:cNvSpPr txBox="1"/>
          <p:nvPr/>
        </p:nvSpPr>
        <p:spPr>
          <a:xfrm>
            <a:off x="11303000" y="6350000"/>
            <a:ext cx="482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750">
                <a:solidFill>
                  <a:srgbClr val="093E5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3270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A000D-1F45-CC0A-F0D8-CCF3D0BF9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00200"/>
            <a:ext cx="6705600" cy="3479800"/>
          </a:xfrm>
        </p:spPr>
        <p:txBody>
          <a:bodyPr anchor="ctr"/>
          <a:lstStyle/>
          <a:p>
            <a:pPr algn="l">
              <a:buNone/>
            </a:pPr>
            <a:r>
              <a:rPr lang="en-US" sz="4000" spc="-75" dirty="0">
                <a:solidFill>
                  <a:srgbClr val="5FC33B"/>
                </a:solidFill>
                <a:latin typeface="Aptos SemiBold"/>
              </a:rPr>
              <a:t>Workshop &amp; Live Demo</a:t>
            </a:r>
          </a:p>
          <a:p>
            <a:pPr algn="l">
              <a:buNone/>
            </a:pPr>
            <a:endParaRPr lang="en-US" sz="1200" dirty="0"/>
          </a:p>
          <a:p>
            <a:pPr algn="l">
              <a:buNone/>
            </a:pPr>
            <a:r>
              <a:rPr lang="en-US" sz="3000" spc="-75" dirty="0">
                <a:solidFill>
                  <a:schemeClr val="bg1"/>
                </a:solidFill>
                <a:latin typeface="Aptos SemiBold"/>
              </a:rPr>
              <a:t>Yuvaraj M</a:t>
            </a:r>
          </a:p>
          <a:p>
            <a:pPr algn="l">
              <a:buNone/>
            </a:pPr>
            <a:r>
              <a:rPr lang="en-US" sz="2000" dirty="0">
                <a:solidFill>
                  <a:srgbClr val="5FC33B"/>
                </a:solidFill>
              </a:rPr>
              <a:t>Product Evangelist, Exasol</a:t>
            </a:r>
          </a:p>
          <a:p>
            <a:pPr algn="l">
              <a:buNone/>
            </a:pPr>
            <a:endParaRPr lang="en-US" sz="1200" dirty="0"/>
          </a:p>
          <a:p>
            <a:pPr algn="l">
              <a:buNone/>
            </a:pPr>
            <a:r>
              <a:rPr lang="en-US" sz="1800" dirty="0">
                <a:solidFill>
                  <a:schemeClr val="bg1"/>
                </a:solidFill>
              </a:rPr>
              <a:t>Hands-on with Exasol Personal, agent-oriented analytics on your own laptop.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2D7059-E1DD-D983-3884-137227945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3000" y="6350000"/>
            <a:ext cx="482600" cy="177800"/>
          </a:xfrm>
        </p:spPr>
        <p:txBody>
          <a:bodyPr/>
          <a:lstStyle/>
          <a:p>
            <a:fld id="{FE54A780-7CB0-054D-A35D-705A27504F57}" type="slidenum">
              <a:rPr lang="en-US" smtClean="0">
                <a:solidFill>
                  <a:srgbClr val="093E51"/>
                </a:solidFill>
              </a:rPr>
              <a:t>3</a:t>
            </a:fld>
            <a:endParaRPr lang="en-US">
              <a:solidFill>
                <a:srgbClr val="093E5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A2506-122D-0947-AFFD-AE2E1345F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" y="6350000"/>
            <a:ext cx="4114800" cy="177800"/>
          </a:xfrm>
        </p:spPr>
        <p:txBody>
          <a:bodyPr/>
          <a:lstStyle/>
          <a:p>
            <a:r>
              <a:rPr lang="en-US">
                <a:solidFill>
                  <a:srgbClr val="093E51"/>
                </a:solidFill>
              </a:rPr>
              <a:t>Copyright © 2026 Exasol. All rights reserved.</a:t>
            </a:r>
          </a:p>
        </p:txBody>
      </p:sp>
      <p:sp>
        <p:nvSpPr>
          <p:cNvPr id="41" name="PhotoRing"/>
          <p:cNvSpPr/>
          <p:nvPr/>
        </p:nvSpPr>
        <p:spPr>
          <a:xfrm>
            <a:off x="7442200" y="1600200"/>
            <a:ext cx="3657600" cy="3657600"/>
          </a:xfrm>
          <a:prstGeom prst="ellipse">
            <a:avLst/>
          </a:prstGeom>
          <a:noFill/>
          <a:ln w="19050">
            <a:solidFill>
              <a:srgbClr val="5FC33B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AA6BA-1454-2FDA-5382-BA88F66AC6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00" t="2000" r="6000" b="10000"/>
          <a:stretch>
            <a:fillRect/>
          </a:stretch>
        </p:blipFill>
        <p:spPr>
          <a:xfrm>
            <a:off x="7620000" y="1778000"/>
            <a:ext cx="3302000" cy="3302000"/>
          </a:xfrm>
          <a:prstGeom prst="ellipse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D0BFA2-8CB3-FF1E-831F-906F2D972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457200"/>
            <a:ext cx="831088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84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8589E-4034-7F1A-07DA-EA042003A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75CD61-57DF-D9FD-2749-B25420DED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3000" y="6350000"/>
            <a:ext cx="482600" cy="1778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E54A780-7CB0-054D-A35D-705A27504F57}" type="slidenum">
              <a:rPr kumimoji="0" lang="en-US" b="0" i="0" u="none" strike="noStrike" kern="0" cap="none" spc="0" normalizeH="0" baseline="0" noProof="0" smtClean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 Light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093E51"/>
              </a:solidFill>
              <a:effectLst/>
              <a:uLnTx/>
              <a:uFillTx/>
              <a:latin typeface="Aptos Light" panose="020B0004020202020204" pitchFamily="34" charset="0"/>
              <a:cs typeface="Arial"/>
              <a:sym typeface="Arial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59B13634-E4E8-56E5-1EFB-D58112EAE645}"/>
              </a:ext>
            </a:extLst>
          </p:cNvPr>
          <p:cNvSpPr txBox="1">
            <a:spLocks/>
          </p:cNvSpPr>
          <p:nvPr/>
        </p:nvSpPr>
        <p:spPr>
          <a:xfrm>
            <a:off x="406400" y="6350000"/>
            <a:ext cx="4114800" cy="17780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50" b="0" i="0" u="none" strike="noStrike" cap="none">
                <a:solidFill>
                  <a:schemeClr val="accent1"/>
                </a:solidFill>
                <a:latin typeface="Aptos Light" panose="020B00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 Light" panose="020B0004020202020204" pitchFamily="34" charset="0"/>
                <a:cs typeface="Arial"/>
                <a:sym typeface="Arial"/>
              </a:rPr>
              <a:t>Copyright © 2026 Exasol. All rights reserved.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93E51"/>
              </a:solidFill>
              <a:effectLst/>
              <a:uLnTx/>
              <a:uFillTx/>
              <a:latin typeface="Aptos Light" panose="020B0004020202020204" pitchFamily="34" charset="0"/>
              <a:cs typeface="Arial"/>
              <a:sym typeface="Arial"/>
            </a:endParaRPr>
          </a:p>
        </p:txBody>
      </p:sp>
      <p:sp>
        <p:nvSpPr>
          <p:cNvPr id="200" name="Title"/>
          <p:cNvSpPr/>
          <p:nvPr/>
        </p:nvSpPr>
        <p:spPr>
          <a:xfrm>
            <a:off x="406400" y="736600"/>
            <a:ext cx="1117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114300" rIns="0" bIns="114300" anchor="t"/>
          <a:lstStyle/>
          <a:p>
            <a:pPr algn="l">
              <a:buNone/>
            </a:pPr>
            <a:r>
              <a:rPr lang="en-US" sz="3200" spc="-50" dirty="0">
                <a:solidFill>
                  <a:srgbClr val="093E51"/>
                </a:solidFill>
                <a:latin typeface="Aptos SemiBold"/>
              </a:rPr>
              <a:t>AI has changed the workload, </a:t>
            </a:r>
            <a:r>
              <a:rPr lang="en-US" sz="3200" spc="-50" dirty="0">
                <a:solidFill>
                  <a:srgbClr val="5FC33B"/>
                </a:solidFill>
                <a:latin typeface="Aptos SemiBold"/>
              </a:rPr>
              <a:t>not the infrastructure</a:t>
            </a:r>
          </a:p>
        </p:txBody>
      </p:sp>
      <p:sp>
        <p:nvSpPr>
          <p:cNvPr id="201" name="Sub"/>
          <p:cNvSpPr/>
          <p:nvPr/>
        </p:nvSpPr>
        <p:spPr>
          <a:xfrm>
            <a:off x="406400" y="1498600"/>
            <a:ext cx="1117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14300" rIns="0" bIns="114300" anchor="t"/>
          <a:lstStyle/>
          <a:p>
            <a:pPr algn="l">
              <a:buNone/>
            </a:pPr>
            <a:r>
              <a:rPr lang="en-US" sz="1600" spc="0" dirty="0">
                <a:solidFill>
                  <a:srgbClr val="48626D"/>
                </a:solidFill>
              </a:rPr>
              <a:t>Databases were designed for a human at the end of the query. That assumption is gone.</a:t>
            </a:r>
          </a:p>
        </p:txBody>
      </p:sp>
      <p:sp>
        <p:nvSpPr>
          <p:cNvPr id="210" name="Humans"/>
          <p:cNvSpPr/>
          <p:nvPr/>
        </p:nvSpPr>
        <p:spPr>
          <a:xfrm>
            <a:off x="406400" y="2159000"/>
            <a:ext cx="5537200" cy="35560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Built for humans</a:t>
            </a:r>
          </a:p>
          <a:p>
            <a:pPr algn="l">
              <a:buNone/>
            </a:pPr>
            <a:r>
              <a:rPr lang="en-US" sz="1800" spc="0" dirty="0">
                <a:solidFill>
                  <a:srgbClr val="48626D"/>
                </a:solidFill>
              </a:rPr>
              <a:t>One analyst. One query. Then waits.</a:t>
            </a:r>
          </a:p>
          <a:p>
            <a:pPr marL="171450" indent="-171450" algn="l">
              <a:spcBef>
                <a:spcPts val="1100"/>
              </a:spcBef>
              <a:buFont typeface="Arial"/>
              <a:buChar char="•"/>
            </a:pPr>
            <a:r>
              <a:rPr lang="en-US" sz="1700" spc="0" dirty="0">
                <a:solidFill>
                  <a:srgbClr val="093E51"/>
                </a:solidFill>
              </a:rPr>
              <a:t>Knows the schema already</a:t>
            </a:r>
          </a:p>
          <a:p>
            <a:pPr marL="171450" indent="-171450" algn="l">
              <a:spcBef>
                <a:spcPts val="900"/>
              </a:spcBef>
              <a:buFont typeface="Arial"/>
              <a:buChar char="•"/>
            </a:pPr>
            <a:r>
              <a:rPr lang="en-US" sz="1700" spc="0" dirty="0">
                <a:solidFill>
                  <a:srgbClr val="093E51"/>
                </a:solidFill>
              </a:rPr>
              <a:t>One query, then waits</a:t>
            </a:r>
          </a:p>
          <a:p>
            <a:pPr marL="171450" indent="-171450" algn="l">
              <a:spcBef>
                <a:spcPts val="900"/>
              </a:spcBef>
              <a:buFont typeface="Arial"/>
              <a:buChar char="•"/>
            </a:pPr>
            <a:r>
              <a:rPr lang="en-US" sz="1700" spc="0" dirty="0">
                <a:solidFill>
                  <a:srgbClr val="093E51"/>
                </a:solidFill>
              </a:rPr>
              <a:t>Thirty seconds is acceptable</a:t>
            </a:r>
          </a:p>
        </p:txBody>
      </p:sp>
      <p:sp>
        <p:nvSpPr>
          <p:cNvPr id="211" name="Agents"/>
          <p:cNvSpPr/>
          <p:nvPr/>
        </p:nvSpPr>
        <p:spPr>
          <a:xfrm>
            <a:off x="6248400" y="2159000"/>
            <a:ext cx="5537200" cy="3556000"/>
          </a:xfrm>
          <a:prstGeom prst="roundRect">
            <a:avLst>
              <a:gd name="adj" fmla="val 6000"/>
            </a:avLst>
          </a:prstGeom>
          <a:solidFill>
            <a:srgbClr val="F1F8EC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2200" spc="0" dirty="0">
                <a:solidFill>
                  <a:srgbClr val="5FC33B"/>
                </a:solidFill>
                <a:latin typeface="Aptos SemiBold"/>
              </a:rPr>
              <a:t>Built for agents</a:t>
            </a:r>
          </a:p>
          <a:p>
            <a:pPr algn="l">
              <a:buNone/>
            </a:pPr>
            <a:r>
              <a:rPr lang="en-US" sz="1800" spc="0" dirty="0">
                <a:solidFill>
                  <a:srgbClr val="48626D"/>
                </a:solidFill>
              </a:rPr>
              <a:t>One agent. Dozens of queries at once.</a:t>
            </a:r>
          </a:p>
          <a:p>
            <a:pPr marL="171450" indent="-171450" algn="l">
              <a:spcBef>
                <a:spcPts val="1100"/>
              </a:spcBef>
              <a:buFont typeface="Arial"/>
              <a:buChar char="•"/>
            </a:pPr>
            <a:r>
              <a:rPr lang="en-US" sz="1700" spc="0" dirty="0">
                <a:solidFill>
                  <a:srgbClr val="093E51"/>
                </a:solidFill>
              </a:rPr>
              <a:t>Starts blind, every single time</a:t>
            </a:r>
          </a:p>
          <a:p>
            <a:pPr marL="171450" indent="-171450" algn="l">
              <a:spcBef>
                <a:spcPts val="900"/>
              </a:spcBef>
              <a:buFont typeface="Arial"/>
              <a:buChar char="•"/>
            </a:pPr>
            <a:r>
              <a:rPr lang="en-US" sz="1700" spc="0" dirty="0">
                <a:solidFill>
                  <a:srgbClr val="093E51"/>
                </a:solidFill>
              </a:rPr>
              <a:t>Dozens of queries in a loop</a:t>
            </a:r>
          </a:p>
          <a:p>
            <a:pPr marL="171450" indent="-171450" algn="l">
              <a:spcBef>
                <a:spcPts val="900"/>
              </a:spcBef>
              <a:buFont typeface="Arial"/>
              <a:buChar char="•"/>
            </a:pPr>
            <a:r>
              <a:rPr lang="en-US" sz="1700" spc="0" dirty="0">
                <a:solidFill>
                  <a:srgbClr val="093E51"/>
                </a:solidFill>
              </a:rPr>
              <a:t>Thirty seconds breaks the loop</a:t>
            </a:r>
          </a:p>
        </p:txBody>
      </p:sp>
    </p:spTree>
    <p:extLst>
      <p:ext uri="{BB962C8B-B14F-4D97-AF65-F5344CB8AC3E}">
        <p14:creationId xmlns:p14="http://schemas.microsoft.com/office/powerpoint/2010/main" val="220095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9A3B6-424D-5180-31F1-B8C30D484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3EE57B-3781-A7E6-C2F0-39209762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3000" y="6350000"/>
            <a:ext cx="482600" cy="1778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E54A780-7CB0-054D-A35D-705A27504F57}" type="slidenum">
              <a:rPr kumimoji="0" lang="en-US" b="0" i="0" u="none" strike="noStrike" kern="0" cap="none" spc="0" normalizeH="0" baseline="0" noProof="0" smtClean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 Light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093E51"/>
              </a:solidFill>
              <a:effectLst/>
              <a:uLnTx/>
              <a:uFillTx/>
              <a:latin typeface="Aptos Light" panose="020B0004020202020204" pitchFamily="34" charset="0"/>
              <a:cs typeface="Arial"/>
              <a:sym typeface="Arial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49F6019B-9057-8932-9C64-D33221A021D7}"/>
              </a:ext>
            </a:extLst>
          </p:cNvPr>
          <p:cNvSpPr txBox="1">
            <a:spLocks/>
          </p:cNvSpPr>
          <p:nvPr/>
        </p:nvSpPr>
        <p:spPr>
          <a:xfrm>
            <a:off x="406400" y="6350000"/>
            <a:ext cx="4114800" cy="17780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50" b="0" i="0" u="none" strike="noStrike" cap="none">
                <a:solidFill>
                  <a:schemeClr val="accent1"/>
                </a:solidFill>
                <a:latin typeface="Aptos Light" panose="020B00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 Light" panose="020B0004020202020204" pitchFamily="34" charset="0"/>
                <a:cs typeface="Arial"/>
                <a:sym typeface="Arial"/>
              </a:rPr>
              <a:t>Copyright © 2026 Exasol. All rights reserved.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93E51"/>
              </a:solidFill>
              <a:effectLst/>
              <a:uLnTx/>
              <a:uFillTx/>
              <a:latin typeface="Aptos Light" panose="020B0004020202020204" pitchFamily="34" charset="0"/>
              <a:cs typeface="Arial"/>
              <a:sym typeface="Arial"/>
            </a:endParaRPr>
          </a:p>
        </p:txBody>
      </p:sp>
      <p:sp>
        <p:nvSpPr>
          <p:cNvPr id="200" name="Title"/>
          <p:cNvSpPr/>
          <p:nvPr/>
        </p:nvSpPr>
        <p:spPr>
          <a:xfrm>
            <a:off x="406400" y="736600"/>
            <a:ext cx="1117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114300" rIns="0" bIns="114300" anchor="t"/>
          <a:lstStyle/>
          <a:p>
            <a:pPr algn="l">
              <a:buNone/>
            </a:pPr>
            <a:r>
              <a:rPr lang="en-US" sz="3200" spc="-50" dirty="0">
                <a:solidFill>
                  <a:srgbClr val="093E51"/>
                </a:solidFill>
                <a:latin typeface="Aptos SemiBold"/>
              </a:rPr>
              <a:t>What makes a database </a:t>
            </a:r>
            <a:r>
              <a:rPr lang="en-US" sz="3200" spc="-50" dirty="0">
                <a:solidFill>
                  <a:srgbClr val="5FC33B"/>
                </a:solidFill>
                <a:latin typeface="Aptos SemiBold"/>
              </a:rPr>
              <a:t>agentic</a:t>
            </a:r>
          </a:p>
        </p:txBody>
      </p:sp>
      <p:sp>
        <p:nvSpPr>
          <p:cNvPr id="201" name="Sub"/>
          <p:cNvSpPr/>
          <p:nvPr/>
        </p:nvSpPr>
        <p:spPr>
          <a:xfrm>
            <a:off x="406400" y="1498600"/>
            <a:ext cx="1117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14300" rIns="0" bIns="114300" anchor="t"/>
          <a:lstStyle/>
          <a:p>
            <a:pPr algn="l">
              <a:buNone/>
            </a:pPr>
            <a:r>
              <a:rPr lang="en-US" sz="1600" spc="0" dirty="0">
                <a:solidFill>
                  <a:srgbClr val="48626D"/>
                </a:solidFill>
              </a:rPr>
              <a:t>Four properties. Each one is a design choice, not a feature you can bolt on.</a:t>
            </a:r>
          </a:p>
        </p:txBody>
      </p:sp>
      <p:sp>
        <p:nvSpPr>
          <p:cNvPr id="210" name="Card0"/>
          <p:cNvSpPr/>
          <p:nvPr/>
        </p:nvSpPr>
        <p:spPr>
          <a:xfrm>
            <a:off x="406400" y="2133600"/>
            <a:ext cx="5537200" cy="17272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1600" b="1" spc="0" dirty="0">
                <a:solidFill>
                  <a:srgbClr val="5FC33B"/>
                </a:solidFill>
              </a:rPr>
              <a:t>01  </a:t>
            </a: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Discoverable</a:t>
            </a:r>
          </a:p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</a:rPr>
              <a:t>Finds the schema without reading it all</a:t>
            </a:r>
          </a:p>
          <a:p>
            <a:pPr algn="l">
              <a:buNone/>
            </a:pPr>
            <a:r>
              <a:rPr lang="en-US" sz="1500" spc="0" dirty="0">
                <a:solidFill>
                  <a:srgbClr val="5E7C88"/>
                </a:solidFill>
              </a:rPr>
              <a:t>Human knows it → agent starts blind</a:t>
            </a:r>
          </a:p>
        </p:txBody>
      </p:sp>
      <p:sp>
        <p:nvSpPr>
          <p:cNvPr id="211" name="Card1"/>
          <p:cNvSpPr/>
          <p:nvPr/>
        </p:nvSpPr>
        <p:spPr>
          <a:xfrm>
            <a:off x="6248400" y="2133600"/>
            <a:ext cx="5537200" cy="17272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1600" b="1" spc="0" dirty="0">
                <a:solidFill>
                  <a:srgbClr val="5FC33B"/>
                </a:solidFill>
              </a:rPr>
              <a:t>02  </a:t>
            </a: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Concurrent</a:t>
            </a:r>
          </a:p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</a:rPr>
              <a:t>Many queries at once, nothing queues</a:t>
            </a:r>
          </a:p>
          <a:p>
            <a:pPr algn="l">
              <a:buNone/>
            </a:pPr>
            <a:r>
              <a:rPr lang="en-US" sz="1500" spc="0" dirty="0">
                <a:solidFill>
                  <a:srgbClr val="5E7C88"/>
                </a:solidFill>
              </a:rPr>
              <a:t>One question → dozens of round trips</a:t>
            </a:r>
          </a:p>
        </p:txBody>
      </p:sp>
      <p:sp>
        <p:nvSpPr>
          <p:cNvPr id="212" name="Card2"/>
          <p:cNvSpPr/>
          <p:nvPr/>
        </p:nvSpPr>
        <p:spPr>
          <a:xfrm>
            <a:off x="406400" y="3987800"/>
            <a:ext cx="5537200" cy="17272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1600" b="1" spc="0" dirty="0">
                <a:solidFill>
                  <a:srgbClr val="5FC33B"/>
                </a:solidFill>
              </a:rPr>
              <a:t>03  </a:t>
            </a: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Headless</a:t>
            </a:r>
          </a:p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</a:rPr>
              <a:t>The agent provisions it and tears it down</a:t>
            </a:r>
          </a:p>
          <a:p>
            <a:pPr algn="l">
              <a:buNone/>
            </a:pPr>
            <a:r>
              <a:rPr lang="en-US" sz="1500" spc="0" dirty="0">
                <a:solidFill>
                  <a:srgbClr val="5E7C88"/>
                </a:solidFill>
              </a:rPr>
              <a:t>Today a human sets it up first</a:t>
            </a:r>
          </a:p>
        </p:txBody>
      </p:sp>
      <p:sp>
        <p:nvSpPr>
          <p:cNvPr id="213" name="Card3"/>
          <p:cNvSpPr/>
          <p:nvPr/>
        </p:nvSpPr>
        <p:spPr>
          <a:xfrm>
            <a:off x="6248400" y="3987800"/>
            <a:ext cx="5537200" cy="17272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1600" b="1" spc="0" dirty="0">
                <a:solidFill>
                  <a:srgbClr val="5FC33B"/>
                </a:solidFill>
              </a:rPr>
              <a:t>04  </a:t>
            </a: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Governed</a:t>
            </a:r>
          </a:p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</a:rPr>
              <a:t>The database enforces what it may touch</a:t>
            </a:r>
          </a:p>
          <a:p>
            <a:pPr algn="l">
              <a:buNone/>
            </a:pPr>
            <a:r>
              <a:rPr lang="en-US" sz="1500" spc="0" dirty="0">
                <a:solidFill>
                  <a:srgbClr val="5E7C88"/>
                </a:solidFill>
              </a:rPr>
              <a:t>Not the prompt, not good intentions</a:t>
            </a:r>
          </a:p>
        </p:txBody>
      </p:sp>
      <p:sp>
        <p:nvSpPr>
          <p:cNvPr id="220" name="Bar"/>
          <p:cNvSpPr/>
          <p:nvPr/>
        </p:nvSpPr>
        <p:spPr>
          <a:xfrm>
            <a:off x="406400" y="5892800"/>
            <a:ext cx="63500" cy="381000"/>
          </a:xfrm>
          <a:prstGeom prst="rect">
            <a:avLst/>
          </a:prstGeom>
          <a:solidFill>
            <a:srgbClr val="5FC33B"/>
          </a:solidFill>
          <a:ln>
            <a:noFill/>
          </a:ln>
        </p:spPr>
        <p:txBody>
          <a:bodyPr wrap="square" lIns="0" tIns="114300" rIns="0" bIns="114300" anchor="t"/>
          <a:lstStyle/>
          <a:p>
            <a:pPr>
              <a:buNone/>
            </a:pPr>
            <a:endParaRPr lang="en-US"/>
          </a:p>
        </p:txBody>
      </p:sp>
      <p:sp>
        <p:nvSpPr>
          <p:cNvPr id="221" name="Callout"/>
          <p:cNvSpPr/>
          <p:nvPr/>
        </p:nvSpPr>
        <p:spPr>
          <a:xfrm>
            <a:off x="635000" y="5867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14300" rIns="0" bIns="114300" anchor="ctr"/>
          <a:lstStyle/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  <a:latin typeface="Aptos SemiBold"/>
              </a:rPr>
              <a:t>All four assume the same thing: the agent, not the human, is the user</a:t>
            </a:r>
          </a:p>
        </p:txBody>
      </p:sp>
    </p:spTree>
    <p:extLst>
      <p:ext uri="{BB962C8B-B14F-4D97-AF65-F5344CB8AC3E}">
        <p14:creationId xmlns:p14="http://schemas.microsoft.com/office/powerpoint/2010/main" val="316829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2C80-FB1D-591B-4340-B3C1E5D57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DF4CEB-7281-3328-50D9-A8B52DADC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3000" y="6350000"/>
            <a:ext cx="482600" cy="1778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E54A780-7CB0-054D-A35D-705A27504F57}" type="slidenum">
              <a:rPr kumimoji="0" lang="en-US" b="0" i="0" u="none" strike="noStrike" kern="0" cap="none" spc="0" normalizeH="0" baseline="0" noProof="0" smtClean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 Light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093E51"/>
              </a:solidFill>
              <a:effectLst/>
              <a:uLnTx/>
              <a:uFillTx/>
              <a:latin typeface="Aptos Light" panose="020B0004020202020204" pitchFamily="34" charset="0"/>
              <a:cs typeface="Arial"/>
              <a:sym typeface="Arial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E8F6E13-2089-53BC-8A5C-07FA91B147DB}"/>
              </a:ext>
            </a:extLst>
          </p:cNvPr>
          <p:cNvSpPr txBox="1">
            <a:spLocks/>
          </p:cNvSpPr>
          <p:nvPr/>
        </p:nvSpPr>
        <p:spPr>
          <a:xfrm>
            <a:off x="406400" y="6350000"/>
            <a:ext cx="4114800" cy="17780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50" b="0" i="0" u="none" strike="noStrike" cap="none">
                <a:solidFill>
                  <a:schemeClr val="accent1"/>
                </a:solidFill>
                <a:latin typeface="Aptos Light" panose="020B00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 Light" panose="020B0004020202020204" pitchFamily="34" charset="0"/>
                <a:cs typeface="Arial"/>
                <a:sym typeface="Arial"/>
              </a:rPr>
              <a:t>Copyright © 2026 Exasol. All rights reserved.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93E51"/>
              </a:solidFill>
              <a:effectLst/>
              <a:uLnTx/>
              <a:uFillTx/>
              <a:latin typeface="Aptos Light" panose="020B0004020202020204" pitchFamily="34" charset="0"/>
              <a:cs typeface="Arial"/>
              <a:sym typeface="Arial"/>
            </a:endParaRPr>
          </a:p>
        </p:txBody>
      </p:sp>
      <p:sp>
        <p:nvSpPr>
          <p:cNvPr id="200" name="Title"/>
          <p:cNvSpPr/>
          <p:nvPr/>
        </p:nvSpPr>
        <p:spPr>
          <a:xfrm>
            <a:off x="406400" y="736600"/>
            <a:ext cx="1117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bIns="91440" anchor="t"/>
          <a:lstStyle/>
          <a:p>
            <a:pPr algn="l">
              <a:buNone/>
            </a:pPr>
            <a:r>
              <a:rPr lang="en-US" sz="3200" spc="-50" dirty="0">
                <a:solidFill>
                  <a:srgbClr val="093E51"/>
                </a:solidFill>
                <a:latin typeface="Aptos SemiBold"/>
              </a:rPr>
              <a:t>Under the </a:t>
            </a:r>
            <a:r>
              <a:rPr lang="en-US" sz="3200" spc="-50" dirty="0">
                <a:solidFill>
                  <a:srgbClr val="5FC33B"/>
                </a:solidFill>
                <a:latin typeface="Aptos SemiBold"/>
              </a:rPr>
              <a:t>hood</a:t>
            </a:r>
          </a:p>
        </p:txBody>
      </p:sp>
      <p:sp>
        <p:nvSpPr>
          <p:cNvPr id="201" name="Sub"/>
          <p:cNvSpPr/>
          <p:nvPr/>
        </p:nvSpPr>
        <p:spPr>
          <a:xfrm>
            <a:off x="406400" y="1498600"/>
            <a:ext cx="1117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bIns="91440" anchor="t"/>
          <a:lstStyle/>
          <a:p>
            <a:pPr algn="l">
              <a:buNone/>
            </a:pPr>
            <a:r>
              <a:rPr lang="en-US" sz="1600" spc="0" dirty="0">
                <a:solidFill>
                  <a:srgbClr val="48626D"/>
                </a:solidFill>
              </a:rPr>
              <a:t>The protocol is standard. What sits behind it is where things break.</a:t>
            </a:r>
          </a:p>
        </p:txBody>
      </p:sp>
      <p:sp>
        <p:nvSpPr>
          <p:cNvPr id="210" name="Flow0"/>
          <p:cNvSpPr/>
          <p:nvPr/>
        </p:nvSpPr>
        <p:spPr>
          <a:xfrm>
            <a:off x="406400" y="2133600"/>
            <a:ext cx="3251200" cy="11176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14300" tIns="91440" rIns="114300" bIns="91440" anchor="ctr"/>
          <a:lstStyle/>
          <a:p>
            <a:pPr algn="ctr">
              <a:buNone/>
            </a:pPr>
            <a:r>
              <a:rPr lang="en-US" sz="2000" spc="0" dirty="0">
                <a:solidFill>
                  <a:srgbClr val="093E51"/>
                </a:solidFill>
                <a:latin typeface="Aptos SemiBold"/>
              </a:rPr>
              <a:t>AI agent</a:t>
            </a:r>
          </a:p>
          <a:p>
            <a:pPr algn="ctr">
              <a:buNone/>
            </a:pPr>
            <a:r>
              <a:rPr lang="en-US" sz="1500" spc="0" dirty="0">
                <a:solidFill>
                  <a:srgbClr val="7C949E"/>
                </a:solidFill>
              </a:rPr>
              <a:t>Claude, Copilot</a:t>
            </a:r>
          </a:p>
        </p:txBody>
      </p:sp>
      <p:sp>
        <p:nvSpPr>
          <p:cNvPr id="211" name="Flow1"/>
          <p:cNvSpPr/>
          <p:nvPr/>
        </p:nvSpPr>
        <p:spPr>
          <a:xfrm>
            <a:off x="4470400" y="2133600"/>
            <a:ext cx="3251200" cy="1117600"/>
          </a:xfrm>
          <a:prstGeom prst="roundRect">
            <a:avLst>
              <a:gd name="adj" fmla="val 6000"/>
            </a:avLst>
          </a:prstGeom>
          <a:solidFill>
            <a:srgbClr val="F1F8EC"/>
          </a:solidFill>
          <a:ln w="12700">
            <a:solidFill>
              <a:srgbClr val="5FC33B"/>
            </a:solidFill>
          </a:ln>
        </p:spPr>
        <p:txBody>
          <a:bodyPr wrap="square" lIns="114300" tIns="91440" rIns="114300" bIns="91440" anchor="ctr"/>
          <a:lstStyle/>
          <a:p>
            <a:pPr algn="ctr">
              <a:buNone/>
            </a:pPr>
            <a:r>
              <a:rPr lang="en-US" sz="2000" spc="0" dirty="0">
                <a:solidFill>
                  <a:srgbClr val="5FC33B"/>
                </a:solidFill>
                <a:latin typeface="Aptos SemiBold"/>
              </a:rPr>
              <a:t>MCP</a:t>
            </a:r>
          </a:p>
          <a:p>
            <a:pPr algn="ctr">
              <a:buNone/>
            </a:pPr>
            <a:r>
              <a:rPr lang="en-US" sz="1500" spc="0" dirty="0">
                <a:solidFill>
                  <a:srgbClr val="7C949E"/>
                </a:solidFill>
              </a:rPr>
              <a:t>Model Context Protocol</a:t>
            </a:r>
          </a:p>
        </p:txBody>
      </p:sp>
      <p:sp>
        <p:nvSpPr>
          <p:cNvPr id="212" name="Flow2"/>
          <p:cNvSpPr/>
          <p:nvPr/>
        </p:nvSpPr>
        <p:spPr>
          <a:xfrm>
            <a:off x="8534400" y="2133600"/>
            <a:ext cx="3251200" cy="11176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14300" tIns="91440" rIns="114300" bIns="91440" anchor="ctr"/>
          <a:lstStyle/>
          <a:p>
            <a:pPr algn="ctr">
              <a:buNone/>
            </a:pPr>
            <a:r>
              <a:rPr lang="en-US" sz="2000" spc="0" dirty="0">
                <a:solidFill>
                  <a:srgbClr val="093E51"/>
                </a:solidFill>
                <a:latin typeface="Aptos SemiBold"/>
              </a:rPr>
              <a:t>Database</a:t>
            </a:r>
          </a:p>
          <a:p>
            <a:pPr algn="ctr">
              <a:buNone/>
            </a:pPr>
            <a:r>
              <a:rPr lang="en-US" sz="1500" spc="0" dirty="0">
                <a:solidFill>
                  <a:srgbClr val="7C949E"/>
                </a:solidFill>
              </a:rPr>
              <a:t>Not all can keep up</a:t>
            </a:r>
          </a:p>
        </p:txBody>
      </p:sp>
      <p:sp>
        <p:nvSpPr>
          <p:cNvPr id="216" name="Arrow1"/>
          <p:cNvSpPr/>
          <p:nvPr/>
        </p:nvSpPr>
        <p:spPr>
          <a:xfrm>
            <a:off x="3810000" y="2578100"/>
            <a:ext cx="558800" cy="228600"/>
          </a:xfrm>
          <a:prstGeom prst="leftRightArrow">
            <a:avLst/>
          </a:prstGeom>
          <a:solidFill>
            <a:srgbClr val="5FC33B"/>
          </a:solidFill>
          <a:ln>
            <a:noFill/>
          </a:ln>
        </p:spPr>
        <p:txBody>
          <a:bodyPr wrap="square" lIns="0" tIns="91440" rIns="0" bIns="91440" anchor="t"/>
          <a:lstStyle/>
          <a:p>
            <a:pPr>
              <a:buNone/>
            </a:pPr>
            <a:endParaRPr lang="en-US"/>
          </a:p>
        </p:txBody>
      </p:sp>
      <p:sp>
        <p:nvSpPr>
          <p:cNvPr id="217" name="Arrow2"/>
          <p:cNvSpPr/>
          <p:nvPr/>
        </p:nvSpPr>
        <p:spPr>
          <a:xfrm>
            <a:off x="7874000" y="2578100"/>
            <a:ext cx="558800" cy="228600"/>
          </a:xfrm>
          <a:prstGeom prst="leftRightArrow">
            <a:avLst/>
          </a:prstGeom>
          <a:solidFill>
            <a:srgbClr val="5FC33B"/>
          </a:solidFill>
          <a:ln>
            <a:noFill/>
          </a:ln>
        </p:spPr>
        <p:txBody>
          <a:bodyPr wrap="square" lIns="0" tIns="91440" rIns="0" bIns="91440" anchor="t"/>
          <a:lstStyle/>
          <a:p>
            <a:pPr>
              <a:buNone/>
            </a:pPr>
            <a:endParaRPr lang="en-US"/>
          </a:p>
        </p:txBody>
      </p:sp>
      <p:sp>
        <p:nvSpPr>
          <p:cNvPr id="218" name="LoopNote"/>
          <p:cNvSpPr/>
          <p:nvPr/>
        </p:nvSpPr>
        <p:spPr>
          <a:xfrm>
            <a:off x="406400" y="33782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bIns="91440" anchor="ctr"/>
          <a:lstStyle/>
          <a:p>
            <a:pPr algn="ctr">
              <a:buNone/>
            </a:pPr>
            <a:r>
              <a:rPr lang="en-US" sz="1600" b="1" spc="0" dirty="0">
                <a:solidFill>
                  <a:srgbClr val="5FC33B"/>
                </a:solidFill>
              </a:rPr>
              <a:t>One question from you becomes dozens of round trips</a:t>
            </a:r>
          </a:p>
        </p:txBody>
      </p:sp>
      <p:sp>
        <p:nvSpPr>
          <p:cNvPr id="220" name="Card0"/>
          <p:cNvSpPr/>
          <p:nvPr/>
        </p:nvSpPr>
        <p:spPr>
          <a:xfrm>
            <a:off x="406400" y="3937000"/>
            <a:ext cx="3657600" cy="17780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71450" tIns="91440" rIns="171450" bIns="91440" anchor="t"/>
          <a:lstStyle/>
          <a:p>
            <a:pPr algn="l">
              <a:buNone/>
            </a:pPr>
            <a:r>
              <a:rPr lang="en-US" sz="1700" b="1" spc="0" dirty="0">
                <a:solidFill>
                  <a:srgbClr val="5FC33B"/>
                </a:solidFill>
              </a:rPr>
              <a:t>01  </a:t>
            </a: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Metadata layer</a:t>
            </a:r>
          </a:p>
          <a:p>
            <a:pPr algn="l">
              <a:buNone/>
            </a:pPr>
            <a:r>
              <a:rPr lang="en-US" sz="1800" spc="0" dirty="0">
                <a:solidFill>
                  <a:srgbClr val="093E51"/>
                </a:solidFill>
              </a:rPr>
              <a:t>Asks what exists first</a:t>
            </a:r>
          </a:p>
          <a:p>
            <a:pPr algn="l">
              <a:buNone/>
            </a:pPr>
            <a:r>
              <a:rPr lang="en-US" sz="1600" spc="0" dirty="0">
                <a:solidFill>
                  <a:srgbClr val="C77A20"/>
                </a:solidFill>
              </a:rPr>
              <a:t>Without it, it guesses table names and fails</a:t>
            </a:r>
          </a:p>
        </p:txBody>
      </p:sp>
      <p:sp>
        <p:nvSpPr>
          <p:cNvPr id="221" name="Card1"/>
          <p:cNvSpPr/>
          <p:nvPr/>
        </p:nvSpPr>
        <p:spPr>
          <a:xfrm>
            <a:off x="4267200" y="3937000"/>
            <a:ext cx="3657600" cy="17780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71450" tIns="91440" rIns="171450" bIns="91440" anchor="t"/>
          <a:lstStyle/>
          <a:p>
            <a:pPr algn="l">
              <a:buNone/>
            </a:pPr>
            <a:r>
              <a:rPr lang="en-US" sz="1700" b="1" spc="0" dirty="0">
                <a:solidFill>
                  <a:srgbClr val="5FC33B"/>
                </a:solidFill>
              </a:rPr>
              <a:t>02  </a:t>
            </a: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Query execution</a:t>
            </a:r>
          </a:p>
          <a:p>
            <a:pPr algn="l">
              <a:buNone/>
            </a:pPr>
            <a:r>
              <a:rPr lang="en-US" sz="1800" spc="0" dirty="0">
                <a:solidFill>
                  <a:srgbClr val="093E51"/>
                </a:solidFill>
              </a:rPr>
              <a:t>Parallel and in-memory</a:t>
            </a:r>
          </a:p>
          <a:p>
            <a:pPr algn="l">
              <a:buNone/>
            </a:pPr>
            <a:r>
              <a:rPr lang="en-US" sz="1600" spc="0" dirty="0">
                <a:solidFill>
                  <a:srgbClr val="C77A20"/>
                </a:solidFill>
              </a:rPr>
              <a:t>Without it, the loop stalls and times out</a:t>
            </a:r>
          </a:p>
        </p:txBody>
      </p:sp>
      <p:sp>
        <p:nvSpPr>
          <p:cNvPr id="222" name="Card2"/>
          <p:cNvSpPr/>
          <p:nvPr/>
        </p:nvSpPr>
        <p:spPr>
          <a:xfrm>
            <a:off x="8128000" y="3937000"/>
            <a:ext cx="3657600" cy="17780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71450" tIns="91440" rIns="171450" bIns="91440" anchor="t"/>
          <a:lstStyle/>
          <a:p>
            <a:pPr algn="l">
              <a:buNone/>
            </a:pPr>
            <a:r>
              <a:rPr lang="en-US" sz="1700" b="1" spc="0" dirty="0">
                <a:solidFill>
                  <a:srgbClr val="5FC33B"/>
                </a:solidFill>
              </a:rPr>
              <a:t>03  </a:t>
            </a: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Deployment</a:t>
            </a:r>
          </a:p>
          <a:p>
            <a:pPr algn="l">
              <a:buNone/>
            </a:pPr>
            <a:r>
              <a:rPr lang="en-US" sz="1800" spc="0" dirty="0">
                <a:solidFill>
                  <a:srgbClr val="093E51"/>
                </a:solidFill>
              </a:rPr>
              <a:t>Runs on your hardware</a:t>
            </a:r>
          </a:p>
          <a:p>
            <a:pPr algn="l">
              <a:buNone/>
            </a:pPr>
            <a:r>
              <a:rPr lang="en-US" sz="1600" spc="0" dirty="0">
                <a:solidFill>
                  <a:srgbClr val="C77A20"/>
                </a:solidFill>
              </a:rPr>
              <a:t>Without it, your data must leave to be useful</a:t>
            </a:r>
          </a:p>
        </p:txBody>
      </p:sp>
    </p:spTree>
    <p:extLst>
      <p:ext uri="{BB962C8B-B14F-4D97-AF65-F5344CB8AC3E}">
        <p14:creationId xmlns:p14="http://schemas.microsoft.com/office/powerpoint/2010/main" val="3328718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75EF2-78C7-AFEC-1C5D-16C01B638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A093A6-58BB-4751-1D0B-9FAC16211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3000" y="6350000"/>
            <a:ext cx="482600" cy="1778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E54A780-7CB0-054D-A35D-705A27504F57}" type="slidenum">
              <a:rPr kumimoji="0" lang="en-US" b="0" i="0" u="none" strike="noStrike" kern="0" cap="none" spc="0" normalizeH="0" baseline="0" noProof="0" smtClean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 Light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093E51"/>
              </a:solidFill>
              <a:effectLst/>
              <a:uLnTx/>
              <a:uFillTx/>
              <a:latin typeface="Aptos Light" panose="020B0004020202020204" pitchFamily="34" charset="0"/>
              <a:cs typeface="Arial"/>
              <a:sym typeface="Arial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405C9FE-50AB-B95C-B9CD-39D2DB817805}"/>
              </a:ext>
            </a:extLst>
          </p:cNvPr>
          <p:cNvSpPr txBox="1">
            <a:spLocks/>
          </p:cNvSpPr>
          <p:nvPr/>
        </p:nvSpPr>
        <p:spPr>
          <a:xfrm>
            <a:off x="406400" y="6350000"/>
            <a:ext cx="4114800" cy="17780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50" b="0" i="0" u="none" strike="noStrike" cap="none">
                <a:solidFill>
                  <a:schemeClr val="accent1"/>
                </a:solidFill>
                <a:latin typeface="Aptos Light" panose="020B00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 Light" panose="020B0004020202020204" pitchFamily="34" charset="0"/>
                <a:cs typeface="Arial"/>
                <a:sym typeface="Arial"/>
              </a:rPr>
              <a:t>Copyright © 2026 Exasol.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F1F0B-BC7D-07E4-D6B5-8FE6A6A15A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0" t="1800" r="1500" b="1800"/>
          <a:stretch>
            <a:fillRect/>
          </a:stretch>
        </p:blipFill>
        <p:spPr>
          <a:xfrm>
            <a:off x="1752600" y="635000"/>
            <a:ext cx="8686800" cy="558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BFF43013-A28D-10D8-761B-853E41C6F193}"/>
              </a:ext>
            </a:extLst>
          </p:cNvPr>
          <p:cNvSpPr/>
          <p:nvPr/>
        </p:nvSpPr>
        <p:spPr>
          <a:xfrm>
            <a:off x="268514" y="-50800"/>
            <a:ext cx="1117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114300" rIns="0" bIns="114300" anchor="t"/>
          <a:lstStyle/>
          <a:p>
            <a:pPr algn="l">
              <a:buNone/>
            </a:pPr>
            <a:r>
              <a:rPr lang="en-US" sz="3200" spc="-50" dirty="0">
                <a:solidFill>
                  <a:srgbClr val="093E51"/>
                </a:solidFill>
                <a:latin typeface="Aptos SemiBold"/>
              </a:rPr>
              <a:t>Exasol Architecture</a:t>
            </a:r>
            <a:endParaRPr lang="en-US" sz="3200" spc="-50" dirty="0">
              <a:solidFill>
                <a:srgbClr val="5FC33B"/>
              </a:solidFill>
              <a:latin typeface="Apto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4233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3801-F734-C699-4D5F-8FA2D99B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765E66-CA5F-3443-19BD-B6058EC0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3000" y="6350000"/>
            <a:ext cx="482600" cy="1778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E54A780-7CB0-054D-A35D-705A27504F57}" type="slidenum">
              <a:rPr kumimoji="0" lang="en-US" b="0" i="0" u="none" strike="noStrike" kern="0" cap="none" spc="0" normalizeH="0" baseline="0" noProof="0" smtClean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 Light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93E51"/>
              </a:solidFill>
              <a:effectLst/>
              <a:uLnTx/>
              <a:uFillTx/>
              <a:latin typeface="Aptos Light" panose="020B0004020202020204" pitchFamily="34" charset="0"/>
              <a:cs typeface="Arial"/>
              <a:sym typeface="Arial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D6BB1133-D46C-6867-E2E9-DA6E6A046910}"/>
              </a:ext>
            </a:extLst>
          </p:cNvPr>
          <p:cNvSpPr txBox="1">
            <a:spLocks/>
          </p:cNvSpPr>
          <p:nvPr/>
        </p:nvSpPr>
        <p:spPr>
          <a:xfrm>
            <a:off x="406400" y="6350000"/>
            <a:ext cx="4114800" cy="17780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50" b="0" i="0" u="none" strike="noStrike" cap="none">
                <a:solidFill>
                  <a:schemeClr val="accent1"/>
                </a:solidFill>
                <a:latin typeface="Aptos Light" panose="020B00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 Light" panose="020B0004020202020204" pitchFamily="34" charset="0"/>
                <a:cs typeface="Arial"/>
                <a:sym typeface="Arial"/>
              </a:rPr>
              <a:t>Copyright © 2026 Exasol. All rights reserved.</a:t>
            </a:r>
          </a:p>
        </p:txBody>
      </p:sp>
      <p:sp>
        <p:nvSpPr>
          <p:cNvPr id="200" name="Title"/>
          <p:cNvSpPr/>
          <p:nvPr/>
        </p:nvSpPr>
        <p:spPr>
          <a:xfrm>
            <a:off x="406400" y="660400"/>
            <a:ext cx="1117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bIns="91440" anchor="t"/>
          <a:lstStyle/>
          <a:p>
            <a:pPr algn="l">
              <a:buNone/>
            </a:pPr>
            <a:r>
              <a:rPr lang="en-US" sz="3200" spc="-50" dirty="0">
                <a:solidFill>
                  <a:srgbClr val="093E51"/>
                </a:solidFill>
                <a:latin typeface="Aptos SemiBold"/>
              </a:rPr>
              <a:t>Exasol AI </a:t>
            </a:r>
            <a:r>
              <a:rPr lang="en-US" sz="3200" spc="-50" dirty="0">
                <a:solidFill>
                  <a:srgbClr val="5FC33B"/>
                </a:solidFill>
                <a:latin typeface="Aptos SemiBold"/>
              </a:rPr>
              <a:t>key components</a:t>
            </a:r>
          </a:p>
        </p:txBody>
      </p:sp>
      <p:sp>
        <p:nvSpPr>
          <p:cNvPr id="210" name="Col0"/>
          <p:cNvSpPr/>
          <p:nvPr/>
        </p:nvSpPr>
        <p:spPr>
          <a:xfrm>
            <a:off x="406400" y="1422400"/>
            <a:ext cx="2717800" cy="3454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1800" spc="0" dirty="0">
                <a:solidFill>
                  <a:srgbClr val="093E51"/>
                </a:solidFill>
                <a:latin typeface="Aptos SemiBold"/>
              </a:rPr>
              <a:t>In-database AI</a:t>
            </a:r>
          </a:p>
          <a:p>
            <a:pPr algn="l">
              <a:buNone/>
            </a:pPr>
            <a:r>
              <a:rPr lang="en-US" sz="1400" b="1" spc="0" dirty="0">
                <a:solidFill>
                  <a:srgbClr val="5FC33B"/>
                </a:solidFill>
              </a:rPr>
              <a:t>via UDFs</a:t>
            </a:r>
          </a:p>
          <a:p>
            <a:pPr marL="152400" indent="-152400" algn="l">
              <a:spcBef>
                <a:spcPts val="8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Python, R, Java, Lua run in-database</a:t>
            </a:r>
          </a:p>
          <a:p>
            <a:pPr marL="152400" indent="-152400" algn="l">
              <a:spcBef>
                <a:spcPts val="5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Automatic parallel across all nodes</a:t>
            </a:r>
          </a:p>
          <a:p>
            <a:pPr marL="152400" indent="-152400" algn="l">
              <a:spcBef>
                <a:spcPts val="5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No data movement, compute at source</a:t>
            </a:r>
          </a:p>
          <a:p>
            <a:pPr marL="152400" indent="-152400" algn="l">
              <a:spcBef>
                <a:spcPts val="5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GPU acceleration for ML workloads</a:t>
            </a:r>
          </a:p>
        </p:txBody>
      </p:sp>
      <p:sp>
        <p:nvSpPr>
          <p:cNvPr id="220" name="Code0"/>
          <p:cNvSpPr/>
          <p:nvPr/>
        </p:nvSpPr>
        <p:spPr>
          <a:xfrm>
            <a:off x="406400" y="4978400"/>
            <a:ext cx="2717800" cy="812800"/>
          </a:xfrm>
          <a:prstGeom prst="roundRect">
            <a:avLst>
              <a:gd name="adj" fmla="val 6000"/>
            </a:avLst>
          </a:prstGeom>
          <a:solidFill>
            <a:srgbClr val="EDF3EE"/>
          </a:solidFill>
          <a:ln w="9525">
            <a:solidFill>
              <a:srgbClr val="DCE6DF"/>
            </a:solidFill>
          </a:ln>
        </p:spPr>
        <p:txBody>
          <a:bodyPr wrap="square" lIns="114300" tIns="91440" rIns="114300" bIns="91440" anchor="ctr"/>
          <a:lstStyle/>
          <a:p>
            <a:pPr algn="l">
              <a:buNone/>
            </a:pPr>
            <a:r>
              <a:rPr lang="en-US" sz="1200" spc="0" dirty="0">
                <a:solidFill>
                  <a:srgbClr val="48626D"/>
                </a:solidFill>
                <a:latin typeface="Consolas"/>
              </a:rPr>
              <a:t>CREATE PYTHON3</a:t>
            </a:r>
          </a:p>
          <a:p>
            <a:pPr algn="l">
              <a:buNone/>
            </a:pPr>
            <a:r>
              <a:rPr lang="en-US" sz="1200" spc="0" dirty="0">
                <a:solidFill>
                  <a:srgbClr val="48626D"/>
                </a:solidFill>
                <a:latin typeface="Consolas"/>
              </a:rPr>
              <a:t>SET SCRIPT predict()</a:t>
            </a:r>
          </a:p>
        </p:txBody>
      </p:sp>
      <p:sp>
        <p:nvSpPr>
          <p:cNvPr id="211" name="Col1"/>
          <p:cNvSpPr/>
          <p:nvPr/>
        </p:nvSpPr>
        <p:spPr>
          <a:xfrm>
            <a:off x="3251200" y="1422400"/>
            <a:ext cx="2717800" cy="3454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1800" spc="0" dirty="0">
                <a:solidFill>
                  <a:srgbClr val="093E51"/>
                </a:solidFill>
                <a:latin typeface="Aptos SemiBold"/>
              </a:rPr>
              <a:t>MCP server</a:t>
            </a:r>
          </a:p>
          <a:p>
            <a:pPr algn="l">
              <a:buNone/>
            </a:pPr>
            <a:r>
              <a:rPr lang="en-US" sz="1400" b="1" spc="0" dirty="0">
                <a:solidFill>
                  <a:srgbClr val="5FC33B"/>
                </a:solidFill>
              </a:rPr>
              <a:t>Conversational analytics</a:t>
            </a:r>
          </a:p>
          <a:p>
            <a:pPr marL="152400" indent="-152400" algn="l">
              <a:spcBef>
                <a:spcPts val="8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Standards-compliant gateway for agents</a:t>
            </a:r>
          </a:p>
          <a:p>
            <a:pPr marL="152400" indent="-152400" algn="l">
              <a:spcBef>
                <a:spcPts val="5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Automated schema and metadata lookup</a:t>
            </a:r>
          </a:p>
          <a:p>
            <a:pPr marL="152400" indent="-152400" algn="l">
              <a:spcBef>
                <a:spcPts val="5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Text-to-SQL for natural language</a:t>
            </a:r>
          </a:p>
          <a:p>
            <a:pPr marL="152400" indent="-152400" algn="l">
              <a:spcBef>
                <a:spcPts val="5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Read-only access for security and audit</a:t>
            </a:r>
          </a:p>
        </p:txBody>
      </p:sp>
      <p:sp>
        <p:nvSpPr>
          <p:cNvPr id="221" name="Code1"/>
          <p:cNvSpPr/>
          <p:nvPr/>
        </p:nvSpPr>
        <p:spPr>
          <a:xfrm>
            <a:off x="3251200" y="4978400"/>
            <a:ext cx="2717800" cy="812800"/>
          </a:xfrm>
          <a:prstGeom prst="roundRect">
            <a:avLst>
              <a:gd name="adj" fmla="val 6000"/>
            </a:avLst>
          </a:prstGeom>
          <a:solidFill>
            <a:srgbClr val="EDF3EE"/>
          </a:solidFill>
          <a:ln w="9525">
            <a:solidFill>
              <a:srgbClr val="DCE6DF"/>
            </a:solidFill>
          </a:ln>
        </p:spPr>
        <p:txBody>
          <a:bodyPr wrap="square" lIns="114300" tIns="91440" rIns="114300" bIns="91440" anchor="ctr"/>
          <a:lstStyle/>
          <a:p>
            <a:pPr algn="l">
              <a:buNone/>
            </a:pPr>
            <a:r>
              <a:rPr lang="en-US" sz="1200" dirty="0">
                <a:solidFill>
                  <a:srgbClr val="48626D"/>
                </a:solidFill>
                <a:latin typeface="Consolas"/>
              </a:rPr>
              <a:t># MIT licensed</a:t>
            </a:r>
          </a:p>
          <a:p>
            <a:pPr algn="l">
              <a:buNone/>
            </a:pPr>
            <a:r>
              <a:rPr lang="en-US" sz="1200" dirty="0">
                <a:solidFill>
                  <a:srgbClr val="48626D"/>
                </a:solidFill>
                <a:latin typeface="Consolas"/>
              </a:rPr>
              <a:t>pip install</a:t>
            </a:r>
          </a:p>
          <a:p>
            <a:pPr algn="l">
              <a:buNone/>
            </a:pPr>
            <a:r>
              <a:rPr lang="en-US" sz="1200" dirty="0">
                <a:solidFill>
                  <a:srgbClr val="48626D"/>
                </a:solidFill>
                <a:latin typeface="Consolas"/>
              </a:rPr>
              <a:t>exasol-mcp-server</a:t>
            </a:r>
          </a:p>
        </p:txBody>
      </p:sp>
      <p:sp>
        <p:nvSpPr>
          <p:cNvPr id="212" name="Col2"/>
          <p:cNvSpPr/>
          <p:nvPr/>
        </p:nvSpPr>
        <p:spPr>
          <a:xfrm>
            <a:off x="6096000" y="1422400"/>
            <a:ext cx="2717800" cy="3454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1800" spc="0" dirty="0">
                <a:solidFill>
                  <a:srgbClr val="093E51"/>
                </a:solidFill>
                <a:latin typeface="Aptos SemiBold"/>
              </a:rPr>
              <a:t>SQL-native LLM</a:t>
            </a:r>
          </a:p>
          <a:p>
            <a:pPr algn="l">
              <a:buNone/>
            </a:pPr>
            <a:r>
              <a:rPr lang="en-US" sz="1400" b="1" spc="0" dirty="0">
                <a:solidFill>
                  <a:srgbClr val="5FC33B"/>
                </a:solidFill>
              </a:rPr>
              <a:t>Connections</a:t>
            </a:r>
          </a:p>
          <a:p>
            <a:pPr marL="152400" indent="-152400" algn="l">
              <a:spcBef>
                <a:spcPts val="8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Single CREATE CONNECTION statement</a:t>
            </a:r>
          </a:p>
          <a:p>
            <a:pPr marL="152400" indent="-152400" algn="l">
              <a:spcBef>
                <a:spcPts val="5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Cloud and self-hosted models</a:t>
            </a:r>
          </a:p>
          <a:p>
            <a:pPr marL="152400" indent="-152400" algn="l">
              <a:spcBef>
                <a:spcPts val="5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No custom connectors or middleware</a:t>
            </a:r>
          </a:p>
          <a:p>
            <a:pPr marL="152400" indent="-152400" algn="l">
              <a:spcBef>
                <a:spcPts val="5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Swap providers with no code changes</a:t>
            </a:r>
          </a:p>
        </p:txBody>
      </p:sp>
      <p:sp>
        <p:nvSpPr>
          <p:cNvPr id="222" name="Code2"/>
          <p:cNvSpPr/>
          <p:nvPr/>
        </p:nvSpPr>
        <p:spPr>
          <a:xfrm>
            <a:off x="6096000" y="4978400"/>
            <a:ext cx="2717800" cy="812800"/>
          </a:xfrm>
          <a:prstGeom prst="roundRect">
            <a:avLst>
              <a:gd name="adj" fmla="val 6000"/>
            </a:avLst>
          </a:prstGeom>
          <a:solidFill>
            <a:srgbClr val="EDF3EE"/>
          </a:solidFill>
          <a:ln w="9525">
            <a:solidFill>
              <a:srgbClr val="DCE6DF"/>
            </a:solidFill>
          </a:ln>
        </p:spPr>
        <p:txBody>
          <a:bodyPr wrap="square" lIns="114300" tIns="91440" rIns="114300" bIns="91440" anchor="ctr"/>
          <a:lstStyle/>
          <a:p>
            <a:pPr algn="l">
              <a:buNone/>
            </a:pPr>
            <a:r>
              <a:rPr lang="en-US" sz="1200" spc="0" dirty="0">
                <a:solidFill>
                  <a:srgbClr val="48626D"/>
                </a:solidFill>
                <a:latin typeface="Consolas"/>
              </a:rPr>
              <a:t>CREATE CONNECTION</a:t>
            </a:r>
          </a:p>
          <a:p>
            <a:pPr algn="l">
              <a:buNone/>
            </a:pPr>
            <a:r>
              <a:rPr lang="en-US" sz="1200" spc="0" dirty="0">
                <a:solidFill>
                  <a:srgbClr val="48626D"/>
                </a:solidFill>
                <a:latin typeface="Consolas"/>
              </a:rPr>
              <a:t>my_llm TO api_url</a:t>
            </a:r>
          </a:p>
        </p:txBody>
      </p:sp>
      <p:sp>
        <p:nvSpPr>
          <p:cNvPr id="213" name="Col3"/>
          <p:cNvSpPr/>
          <p:nvPr/>
        </p:nvSpPr>
        <p:spPr>
          <a:xfrm>
            <a:off x="8940800" y="1422400"/>
            <a:ext cx="2717800" cy="3454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1800" spc="0" dirty="0">
                <a:solidFill>
                  <a:srgbClr val="093E51"/>
                </a:solidFill>
                <a:latin typeface="Aptos SemiBold"/>
              </a:rPr>
              <a:t>Native agent</a:t>
            </a:r>
          </a:p>
          <a:p>
            <a:pPr algn="l">
              <a:buNone/>
            </a:pPr>
            <a:r>
              <a:rPr lang="en-US" sz="1400" b="1" spc="0" dirty="0">
                <a:solidFill>
                  <a:srgbClr val="5FC33B"/>
                </a:solidFill>
              </a:rPr>
              <a:t>Architecture</a:t>
            </a:r>
          </a:p>
          <a:p>
            <a:pPr marL="152400" indent="-152400" algn="l">
              <a:spcBef>
                <a:spcPts val="8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Build and run agents fully within Exasol</a:t>
            </a:r>
          </a:p>
          <a:p>
            <a:pPr marL="152400" indent="-152400" algn="l">
              <a:spcBef>
                <a:spcPts val="5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Models, prompts, tools and memory</a:t>
            </a:r>
          </a:p>
          <a:p>
            <a:pPr marL="152400" indent="-152400" algn="l">
              <a:spcBef>
                <a:spcPts val="5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All operations run in-database</a:t>
            </a:r>
          </a:p>
          <a:p>
            <a:pPr marL="152400" indent="-152400" algn="l">
              <a:spcBef>
                <a:spcPts val="500"/>
              </a:spcBef>
              <a:buFont typeface="Arial"/>
              <a:buChar char="•"/>
            </a:pPr>
            <a:r>
              <a:rPr lang="en-US" sz="1400" spc="0" dirty="0">
                <a:solidFill>
                  <a:srgbClr val="48626D"/>
                </a:solidFill>
              </a:rPr>
              <a:t>Zero external data movement</a:t>
            </a:r>
          </a:p>
        </p:txBody>
      </p:sp>
      <p:sp>
        <p:nvSpPr>
          <p:cNvPr id="223" name="Code3"/>
          <p:cNvSpPr/>
          <p:nvPr/>
        </p:nvSpPr>
        <p:spPr>
          <a:xfrm>
            <a:off x="8940800" y="4978400"/>
            <a:ext cx="2717800" cy="812800"/>
          </a:xfrm>
          <a:prstGeom prst="roundRect">
            <a:avLst>
              <a:gd name="adj" fmla="val 6000"/>
            </a:avLst>
          </a:prstGeom>
          <a:solidFill>
            <a:srgbClr val="EDF3EE"/>
          </a:solidFill>
          <a:ln w="9525">
            <a:solidFill>
              <a:srgbClr val="DCE6DF"/>
            </a:solidFill>
          </a:ln>
        </p:spPr>
        <p:txBody>
          <a:bodyPr wrap="square" lIns="114300" tIns="91440" rIns="114300" bIns="91440" anchor="ctr"/>
          <a:lstStyle/>
          <a:p>
            <a:pPr algn="l">
              <a:buNone/>
            </a:pPr>
            <a:r>
              <a:rPr lang="en-US" sz="1200" spc="0" dirty="0">
                <a:solidFill>
                  <a:srgbClr val="48626D"/>
                </a:solidFill>
                <a:latin typeface="Consolas"/>
              </a:rPr>
              <a:t>SELECT * FROM</a:t>
            </a:r>
          </a:p>
          <a:p>
            <a:pPr algn="l">
              <a:buNone/>
            </a:pPr>
            <a:r>
              <a:rPr lang="en-US" sz="1200" spc="0" dirty="0">
                <a:solidFill>
                  <a:srgbClr val="48626D"/>
                </a:solidFill>
                <a:latin typeface="Consolas"/>
              </a:rPr>
              <a:t>agent_run('...')</a:t>
            </a:r>
          </a:p>
        </p:txBody>
      </p:sp>
      <p:sp>
        <p:nvSpPr>
          <p:cNvPr id="230" name="Rule1"/>
          <p:cNvSpPr/>
          <p:nvPr/>
        </p:nvSpPr>
        <p:spPr>
          <a:xfrm>
            <a:off x="406400" y="5943600"/>
            <a:ext cx="2717800" cy="38100"/>
          </a:xfrm>
          <a:prstGeom prst="rect">
            <a:avLst/>
          </a:prstGeom>
          <a:solidFill>
            <a:srgbClr val="5FC33B"/>
          </a:solidFill>
          <a:ln>
            <a:noFill/>
          </a:ln>
        </p:spPr>
        <p:txBody>
          <a:bodyPr wrap="square" lIns="0" tIns="91440" rIns="0" bIns="91440" anchor="t"/>
          <a:lstStyle/>
          <a:p>
            <a:pPr>
              <a:buNone/>
            </a:pPr>
            <a:endParaRPr lang="en-US"/>
          </a:p>
        </p:txBody>
      </p:sp>
      <p:sp>
        <p:nvSpPr>
          <p:cNvPr id="231" name="Lbl1"/>
          <p:cNvSpPr/>
          <p:nvPr/>
        </p:nvSpPr>
        <p:spPr>
          <a:xfrm>
            <a:off x="406400" y="6019800"/>
            <a:ext cx="2717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bIns="91440" anchor="t"/>
          <a:lstStyle/>
          <a:p>
            <a:pPr algn="l">
              <a:buNone/>
            </a:pPr>
            <a:r>
              <a:rPr lang="en-US" sz="1500" spc="0" dirty="0">
                <a:solidFill>
                  <a:srgbClr val="093E51"/>
                </a:solidFill>
                <a:latin typeface="Aptos SemiBold"/>
              </a:rPr>
              <a:t>AI executes in-database</a:t>
            </a:r>
          </a:p>
        </p:txBody>
      </p:sp>
      <p:sp>
        <p:nvSpPr>
          <p:cNvPr id="232" name="Rule2"/>
          <p:cNvSpPr/>
          <p:nvPr/>
        </p:nvSpPr>
        <p:spPr>
          <a:xfrm>
            <a:off x="3251200" y="5943600"/>
            <a:ext cx="8407400" cy="38100"/>
          </a:xfrm>
          <a:prstGeom prst="rect">
            <a:avLst/>
          </a:prstGeom>
          <a:solidFill>
            <a:srgbClr val="5FC33B"/>
          </a:solidFill>
          <a:ln>
            <a:noFill/>
          </a:ln>
        </p:spPr>
        <p:txBody>
          <a:bodyPr wrap="square" lIns="0" tIns="91440" rIns="0" bIns="91440" anchor="t"/>
          <a:lstStyle/>
          <a:p>
            <a:pPr>
              <a:buNone/>
            </a:pPr>
            <a:endParaRPr lang="en-US"/>
          </a:p>
        </p:txBody>
      </p:sp>
      <p:sp>
        <p:nvSpPr>
          <p:cNvPr id="233" name="Lbl2"/>
          <p:cNvSpPr/>
          <p:nvPr/>
        </p:nvSpPr>
        <p:spPr>
          <a:xfrm>
            <a:off x="3251200" y="6019800"/>
            <a:ext cx="840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bIns="91440" anchor="t"/>
          <a:lstStyle/>
          <a:p>
            <a:pPr algn="ctr">
              <a:buNone/>
            </a:pPr>
            <a:r>
              <a:rPr lang="en-US" sz="1500" spc="0" dirty="0">
                <a:solidFill>
                  <a:srgbClr val="5FC33B"/>
                </a:solidFill>
                <a:latin typeface="Aptos SemiBold"/>
              </a:rPr>
              <a:t>Extending the execution foundation</a:t>
            </a:r>
          </a:p>
        </p:txBody>
      </p:sp>
    </p:spTree>
    <p:extLst>
      <p:ext uri="{BB962C8B-B14F-4D97-AF65-F5344CB8AC3E}">
        <p14:creationId xmlns:p14="http://schemas.microsoft.com/office/powerpoint/2010/main" val="2666656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BD76B-7916-E159-DC48-B81467122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5E0582-A1C6-1C0F-2909-F765322CB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3000" y="6350000"/>
            <a:ext cx="482600" cy="1778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E54A780-7CB0-054D-A35D-705A27504F57}" type="slidenum">
              <a:rPr kumimoji="0" lang="en-US" b="0" i="0" u="none" strike="noStrike" kern="0" cap="none" spc="0" normalizeH="0" baseline="0" noProof="0" smtClean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 Light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093E51"/>
              </a:solidFill>
              <a:effectLst/>
              <a:uLnTx/>
              <a:uFillTx/>
              <a:latin typeface="Aptos Light" panose="020B0004020202020204" pitchFamily="34" charset="0"/>
              <a:cs typeface="Arial"/>
              <a:sym typeface="Arial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990346B-CD11-08EC-154F-B5C2C1EB6238}"/>
              </a:ext>
            </a:extLst>
          </p:cNvPr>
          <p:cNvSpPr txBox="1">
            <a:spLocks/>
          </p:cNvSpPr>
          <p:nvPr/>
        </p:nvSpPr>
        <p:spPr>
          <a:xfrm>
            <a:off x="406400" y="6350000"/>
            <a:ext cx="4114800" cy="17780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50" b="0" i="0" u="none" strike="noStrike" cap="none">
                <a:solidFill>
                  <a:schemeClr val="accent1"/>
                </a:solidFill>
                <a:latin typeface="Aptos Light" panose="020B00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 Light" panose="020B0004020202020204" pitchFamily="34" charset="0"/>
                <a:cs typeface="Arial"/>
                <a:sym typeface="Arial"/>
              </a:rPr>
              <a:t>Copyright © 2026 Exasol. All rights reserved.</a:t>
            </a:r>
          </a:p>
        </p:txBody>
      </p:sp>
      <p:sp>
        <p:nvSpPr>
          <p:cNvPr id="200" name="Title"/>
          <p:cNvSpPr/>
          <p:nvPr/>
        </p:nvSpPr>
        <p:spPr>
          <a:xfrm>
            <a:off x="406400" y="685800"/>
            <a:ext cx="11176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114300" rIns="0" bIns="114300" anchor="t"/>
          <a:lstStyle/>
          <a:p>
            <a:pPr algn="l">
              <a:buNone/>
            </a:pPr>
            <a:r>
              <a:rPr lang="en-US" sz="3000" spc="-50" dirty="0">
                <a:solidFill>
                  <a:srgbClr val="093E51"/>
                </a:solidFill>
                <a:latin typeface="Aptos SemiBold"/>
              </a:rPr>
              <a:t>Exasol Personal Local — run it in </a:t>
            </a:r>
            <a:r>
              <a:rPr lang="en-US" sz="3000" spc="-50" dirty="0">
                <a:solidFill>
                  <a:srgbClr val="5FC33B"/>
                </a:solidFill>
                <a:latin typeface="Aptos SemiBold"/>
              </a:rPr>
              <a:t>seconds</a:t>
            </a:r>
          </a:p>
        </p:txBody>
      </p:sp>
      <p:sp>
        <p:nvSpPr>
          <p:cNvPr id="201" name="Sub"/>
          <p:cNvSpPr/>
          <p:nvPr/>
        </p:nvSpPr>
        <p:spPr>
          <a:xfrm>
            <a:off x="406400" y="1397000"/>
            <a:ext cx="11176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114300" rIns="0" bIns="114300" anchor="t"/>
          <a:lstStyle/>
          <a:p>
            <a:pPr algn="l">
              <a:buNone/>
            </a:pPr>
            <a:r>
              <a:rPr lang="en-US" sz="1600" spc="0" dirty="0">
                <a:solidFill>
                  <a:srgbClr val="48626D"/>
                </a:solidFill>
              </a:rPr>
              <a:t>The Analytics Database for Agentic AI. Free for personal use.</a:t>
            </a:r>
          </a:p>
          <a:p>
            <a:pPr algn="l">
              <a:buNone/>
            </a:pPr>
            <a:r>
              <a:rPr lang="en-US" sz="1600" spc="0" dirty="0">
                <a:solidFill>
                  <a:srgbClr val="48626D"/>
                </a:solidFill>
              </a:rPr>
              <a:t>One command. No cloud account. No license key.</a:t>
            </a:r>
          </a:p>
        </p:txBody>
      </p:sp>
      <p:sp>
        <p:nvSpPr>
          <p:cNvPr id="210" name="Card0"/>
          <p:cNvSpPr/>
          <p:nvPr/>
        </p:nvSpPr>
        <p:spPr>
          <a:xfrm>
            <a:off x="406400" y="2184400"/>
            <a:ext cx="5537200" cy="1676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1600" b="1" spc="0" dirty="0">
                <a:solidFill>
                  <a:srgbClr val="5FC33B"/>
                </a:solidFill>
              </a:rPr>
              <a:t>01  </a:t>
            </a: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One-command install</a:t>
            </a:r>
          </a:p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</a:rPr>
              <a:t>Full Exasol starter kit on your laptop in seconds</a:t>
            </a:r>
          </a:p>
          <a:p>
            <a:pPr algn="l">
              <a:buNone/>
            </a:pPr>
            <a:r>
              <a:rPr lang="en-US" sz="1500" b="1" spc="0" dirty="0">
                <a:solidFill>
                  <a:srgbClr val="5FC33B"/>
                </a:solidFill>
              </a:rPr>
              <a:t>Supports macOS, Linux and Windows (WSL)</a:t>
            </a:r>
          </a:p>
        </p:txBody>
      </p:sp>
      <p:sp>
        <p:nvSpPr>
          <p:cNvPr id="211" name="Card1"/>
          <p:cNvSpPr/>
          <p:nvPr/>
        </p:nvSpPr>
        <p:spPr>
          <a:xfrm>
            <a:off x="6248400" y="2184400"/>
            <a:ext cx="5537200" cy="1676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1600" b="1" spc="0" dirty="0">
                <a:solidFill>
                  <a:srgbClr val="5FC33B"/>
                </a:solidFill>
              </a:rPr>
              <a:t>02  </a:t>
            </a: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Full enterprise engine</a:t>
            </a:r>
          </a:p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</a:rPr>
              <a:t>The full analytics database for personal use</a:t>
            </a:r>
          </a:p>
          <a:p>
            <a:pPr algn="l">
              <a:buNone/>
            </a:pPr>
            <a:r>
              <a:rPr lang="en-US" sz="1500" spc="0" dirty="0">
                <a:solidFill>
                  <a:srgbClr val="5E7C88"/>
                </a:solidFill>
              </a:rPr>
              <a:t>No features removed</a:t>
            </a:r>
          </a:p>
        </p:txBody>
      </p:sp>
      <p:sp>
        <p:nvSpPr>
          <p:cNvPr id="212" name="Card2"/>
          <p:cNvSpPr/>
          <p:nvPr/>
        </p:nvSpPr>
        <p:spPr>
          <a:xfrm>
            <a:off x="406400" y="3987800"/>
            <a:ext cx="5537200" cy="1676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1600" b="1" spc="0" dirty="0">
                <a:solidFill>
                  <a:srgbClr val="5FC33B"/>
                </a:solidFill>
              </a:rPr>
              <a:t>03  </a:t>
            </a: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Unlimited data</a:t>
            </a:r>
          </a:p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</a:rPr>
              <a:t>No memory, storage or compute limits</a:t>
            </a:r>
          </a:p>
          <a:p>
            <a:pPr algn="l">
              <a:buNone/>
            </a:pPr>
            <a:r>
              <a:rPr lang="en-US" sz="1500" spc="0" dirty="0">
                <a:solidFill>
                  <a:srgbClr val="5E7C88"/>
                </a:solidFill>
              </a:rPr>
              <a:t>No artificial limits</a:t>
            </a:r>
          </a:p>
        </p:txBody>
      </p:sp>
      <p:sp>
        <p:nvSpPr>
          <p:cNvPr id="213" name="Card3"/>
          <p:cNvSpPr/>
          <p:nvPr/>
        </p:nvSpPr>
        <p:spPr>
          <a:xfrm>
            <a:off x="6248400" y="3987800"/>
            <a:ext cx="5537200" cy="1676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1600" b="1" spc="0" dirty="0">
                <a:solidFill>
                  <a:srgbClr val="5FC33B"/>
                </a:solidFill>
              </a:rPr>
              <a:t>04  </a:t>
            </a: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Agent-ready by default</a:t>
            </a:r>
          </a:p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</a:rPr>
              <a:t>Built-in MCP server, drivers and AI tooling</a:t>
            </a:r>
          </a:p>
          <a:p>
            <a:pPr algn="l">
              <a:buNone/>
            </a:pPr>
            <a:r>
              <a:rPr lang="en-US" sz="1500" spc="0" dirty="0">
                <a:solidFill>
                  <a:srgbClr val="5E7C88"/>
                </a:solidFill>
              </a:rPr>
              <a:t>Everything needed for AI agents is included</a:t>
            </a:r>
          </a:p>
        </p:txBody>
      </p:sp>
      <p:sp>
        <p:nvSpPr>
          <p:cNvPr id="220" name="Bar"/>
          <p:cNvSpPr/>
          <p:nvPr/>
        </p:nvSpPr>
        <p:spPr>
          <a:xfrm>
            <a:off x="406400" y="5892800"/>
            <a:ext cx="63500" cy="381000"/>
          </a:xfrm>
          <a:prstGeom prst="rect">
            <a:avLst/>
          </a:prstGeom>
          <a:solidFill>
            <a:srgbClr val="5FC33B"/>
          </a:solidFill>
          <a:ln>
            <a:noFill/>
          </a:ln>
        </p:spPr>
        <p:txBody>
          <a:bodyPr wrap="square" lIns="0" tIns="114300" rIns="0" bIns="114300" anchor="t"/>
          <a:lstStyle/>
          <a:p>
            <a:pPr>
              <a:buNone/>
            </a:pPr>
            <a:endParaRPr lang="en-US"/>
          </a:p>
        </p:txBody>
      </p:sp>
      <p:sp>
        <p:nvSpPr>
          <p:cNvPr id="221" name="Callout"/>
          <p:cNvSpPr/>
          <p:nvPr/>
        </p:nvSpPr>
        <p:spPr>
          <a:xfrm>
            <a:off x="635000" y="5867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14300" rIns="0" bIns="114300" anchor="ctr"/>
          <a:lstStyle/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  <a:latin typeface="Aptos SemiBold"/>
              </a:rPr>
              <a:t>The only restriction is single-user. Everything else is free.</a:t>
            </a:r>
          </a:p>
        </p:txBody>
      </p:sp>
    </p:spTree>
    <p:extLst>
      <p:ext uri="{BB962C8B-B14F-4D97-AF65-F5344CB8AC3E}">
        <p14:creationId xmlns:p14="http://schemas.microsoft.com/office/powerpoint/2010/main" val="2890897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E2810-E3D2-4589-B5D1-6AA4F80F6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A955A0-AC0A-D6B1-C297-A1FCC743F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082585" cy="679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342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6D198-CECF-2BB4-24F8-ED4685838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360721-C44A-BA45-22A7-A61EF250E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3000" y="6350000"/>
            <a:ext cx="482600" cy="1778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E54A780-7CB0-054D-A35D-705A27504F57}" type="slidenum">
              <a:rPr kumimoji="0" lang="en-US" b="0" i="0" u="none" strike="noStrike" kern="0" cap="none" spc="0" normalizeH="0" baseline="0" noProof="0" smtClean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 Light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093E51"/>
              </a:solidFill>
              <a:effectLst/>
              <a:uLnTx/>
              <a:uFillTx/>
              <a:latin typeface="Aptos Light" panose="020B0004020202020204" pitchFamily="34" charset="0"/>
              <a:cs typeface="Arial"/>
              <a:sym typeface="Arial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3DFABAC0-293D-620E-D746-647C81338468}"/>
              </a:ext>
            </a:extLst>
          </p:cNvPr>
          <p:cNvSpPr txBox="1">
            <a:spLocks/>
          </p:cNvSpPr>
          <p:nvPr/>
        </p:nvSpPr>
        <p:spPr>
          <a:xfrm>
            <a:off x="406400" y="6350000"/>
            <a:ext cx="4114800" cy="17780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50" b="0" i="0" u="none" strike="noStrike" cap="none">
                <a:solidFill>
                  <a:schemeClr val="accent1"/>
                </a:solidFill>
                <a:latin typeface="Aptos Light" panose="020B00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 Light" panose="020B0004020202020204" pitchFamily="34" charset="0"/>
                <a:cs typeface="Arial"/>
                <a:sym typeface="Arial"/>
              </a:rPr>
              <a:t>Copyright © 2026 Exasol. All rights reserved.</a:t>
            </a:r>
          </a:p>
        </p:txBody>
      </p:sp>
      <p:sp>
        <p:nvSpPr>
          <p:cNvPr id="200" name="Title"/>
          <p:cNvSpPr/>
          <p:nvPr/>
        </p:nvSpPr>
        <p:spPr>
          <a:xfrm>
            <a:off x="406400" y="685800"/>
            <a:ext cx="11176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114300" rIns="0" bIns="114300" anchor="t"/>
          <a:lstStyle/>
          <a:p>
            <a:pPr algn="l">
              <a:buNone/>
            </a:pPr>
            <a:r>
              <a:rPr lang="en-US" sz="3000" spc="-50" dirty="0">
                <a:solidFill>
                  <a:srgbClr val="093E51"/>
                </a:solidFill>
                <a:latin typeface="Aptos SemiBold"/>
              </a:rPr>
              <a:t>From question to </a:t>
            </a:r>
            <a:r>
              <a:rPr lang="en-US" sz="3000" spc="-50" dirty="0">
                <a:solidFill>
                  <a:srgbClr val="5FC33B"/>
                </a:solidFill>
                <a:latin typeface="Aptos SemiBold"/>
              </a:rPr>
              <a:t>dashboard</a:t>
            </a:r>
            <a:r>
              <a:rPr lang="en-US" sz="3000" spc="-50" dirty="0">
                <a:solidFill>
                  <a:srgbClr val="093E51"/>
                </a:solidFill>
                <a:latin typeface="Aptos SemiBold"/>
              </a:rPr>
              <a:t>, no human in between</a:t>
            </a:r>
          </a:p>
        </p:txBody>
      </p:sp>
      <p:sp>
        <p:nvSpPr>
          <p:cNvPr id="201" name="Sub"/>
          <p:cNvSpPr/>
          <p:nvPr/>
        </p:nvSpPr>
        <p:spPr>
          <a:xfrm>
            <a:off x="406400" y="1397000"/>
            <a:ext cx="11176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114300" rIns="0" bIns="114300" anchor="t"/>
          <a:lstStyle/>
          <a:p>
            <a:pPr algn="l">
              <a:buNone/>
            </a:pPr>
            <a:r>
              <a:rPr lang="en-US" sz="1600" spc="0" dirty="0">
                <a:solidFill>
                  <a:srgbClr val="48626D"/>
                </a:solidFill>
              </a:rPr>
              <a:t>dash-server is an MCP-first host that lets agents build and deploy live Dash apps against Exasol.</a:t>
            </a:r>
          </a:p>
          <a:p>
            <a:pPr algn="l">
              <a:buNone/>
            </a:pPr>
            <a:r>
              <a:rPr lang="en-US" sz="1600" spc="0" dirty="0">
                <a:solidFill>
                  <a:srgbClr val="48626D"/>
                </a:solidFill>
              </a:rPr>
              <a:t>Agent-operated. GitOps backed. Real Python apps.</a:t>
            </a:r>
          </a:p>
        </p:txBody>
      </p:sp>
      <p:sp>
        <p:nvSpPr>
          <p:cNvPr id="210" name="Card0"/>
          <p:cNvSpPr/>
          <p:nvPr/>
        </p:nvSpPr>
        <p:spPr>
          <a:xfrm>
            <a:off x="406400" y="2184400"/>
            <a:ext cx="5537200" cy="1676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1600" b="1" spc="0" dirty="0">
                <a:solidFill>
                  <a:srgbClr val="5FC33B"/>
                </a:solidFill>
              </a:rPr>
              <a:t>01  </a:t>
            </a: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Agent builds it</a:t>
            </a:r>
          </a:p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</a:rPr>
              <a:t>A user asks, an agent creates the app through MCP</a:t>
            </a:r>
          </a:p>
          <a:p>
            <a:pPr algn="l">
              <a:buNone/>
            </a:pPr>
            <a:r>
              <a:rPr lang="en-US" sz="1500" spc="0" dirty="0">
                <a:solidFill>
                  <a:srgbClr val="5E7C88"/>
                </a:solidFill>
              </a:rPr>
              <a:t>No manual scaffolding or deploy steps</a:t>
            </a:r>
          </a:p>
        </p:txBody>
      </p:sp>
      <p:sp>
        <p:nvSpPr>
          <p:cNvPr id="211" name="Card1"/>
          <p:cNvSpPr/>
          <p:nvPr/>
        </p:nvSpPr>
        <p:spPr>
          <a:xfrm>
            <a:off x="6248400" y="2184400"/>
            <a:ext cx="5537200" cy="1676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1600" b="1" spc="0" dirty="0">
                <a:solidFill>
                  <a:srgbClr val="5FC33B"/>
                </a:solidFill>
              </a:rPr>
              <a:t>02  </a:t>
            </a: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Real Python apps</a:t>
            </a:r>
          </a:p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</a:rPr>
              <a:t>Full Dash and Plotly, not a fixed BI canvas</a:t>
            </a:r>
          </a:p>
          <a:p>
            <a:pPr algn="l">
              <a:buNone/>
            </a:pPr>
            <a:r>
              <a:rPr lang="en-US" sz="1500" spc="0" dirty="0">
                <a:solidFill>
                  <a:srgbClr val="5E7C88"/>
                </a:solidFill>
              </a:rPr>
              <a:t>Callbacks, routing, custom logic included</a:t>
            </a:r>
          </a:p>
        </p:txBody>
      </p:sp>
      <p:sp>
        <p:nvSpPr>
          <p:cNvPr id="212" name="Card2"/>
          <p:cNvSpPr/>
          <p:nvPr/>
        </p:nvSpPr>
        <p:spPr>
          <a:xfrm>
            <a:off x="406400" y="3987800"/>
            <a:ext cx="5537200" cy="1676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1600" b="1" spc="0" dirty="0">
                <a:solidFill>
                  <a:srgbClr val="5FC33B"/>
                </a:solidFill>
              </a:rPr>
              <a:t>03  </a:t>
            </a: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Exasol-native</a:t>
            </a:r>
          </a:p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</a:rPr>
              <a:t>Pushes heavy aggregation into the database first</a:t>
            </a:r>
          </a:p>
          <a:p>
            <a:pPr algn="l">
              <a:buNone/>
            </a:pPr>
            <a:r>
              <a:rPr lang="en-US" sz="1500" spc="0" dirty="0">
                <a:solidFill>
                  <a:srgbClr val="5E7C88"/>
                </a:solidFill>
              </a:rPr>
              <a:t>SQL does the work, not the browser</a:t>
            </a:r>
          </a:p>
        </p:txBody>
      </p:sp>
      <p:sp>
        <p:nvSpPr>
          <p:cNvPr id="213" name="Card3"/>
          <p:cNvSpPr/>
          <p:nvPr/>
        </p:nvSpPr>
        <p:spPr>
          <a:xfrm>
            <a:off x="6248400" y="3987800"/>
            <a:ext cx="5537200" cy="1676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1600" b="1" spc="0" dirty="0">
                <a:solidFill>
                  <a:srgbClr val="5FC33B"/>
                </a:solidFill>
              </a:rPr>
              <a:t>04  </a:t>
            </a:r>
            <a:r>
              <a:rPr lang="en-US" sz="2200" spc="0" dirty="0">
                <a:solidFill>
                  <a:srgbClr val="093E51"/>
                </a:solidFill>
                <a:latin typeface="Aptos SemiBold"/>
              </a:rPr>
              <a:t>GitOps backed</a:t>
            </a:r>
          </a:p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</a:rPr>
              <a:t>Every revision is versioned and rollbackable</a:t>
            </a:r>
          </a:p>
          <a:p>
            <a:pPr algn="l">
              <a:buNone/>
            </a:pPr>
            <a:r>
              <a:rPr lang="en-US" sz="1500" spc="0" dirty="0">
                <a:solidFill>
                  <a:srgbClr val="5E7C88"/>
                </a:solidFill>
              </a:rPr>
              <a:t>Durable history, not opaque runtime state</a:t>
            </a:r>
          </a:p>
        </p:txBody>
      </p:sp>
      <p:sp>
        <p:nvSpPr>
          <p:cNvPr id="220" name="Bar"/>
          <p:cNvSpPr/>
          <p:nvPr/>
        </p:nvSpPr>
        <p:spPr>
          <a:xfrm>
            <a:off x="406400" y="5892800"/>
            <a:ext cx="63500" cy="381000"/>
          </a:xfrm>
          <a:prstGeom prst="rect">
            <a:avLst/>
          </a:prstGeom>
          <a:solidFill>
            <a:srgbClr val="5FC33B"/>
          </a:solidFill>
          <a:ln>
            <a:noFill/>
          </a:ln>
        </p:spPr>
        <p:txBody>
          <a:bodyPr wrap="square" lIns="0" tIns="114300" rIns="0" bIns="114300" anchor="t"/>
          <a:lstStyle/>
          <a:p>
            <a:pPr>
              <a:buNone/>
            </a:pPr>
            <a:endParaRPr lang="en-US"/>
          </a:p>
        </p:txBody>
      </p:sp>
      <p:sp>
        <p:nvSpPr>
          <p:cNvPr id="221" name="Callout"/>
          <p:cNvSpPr/>
          <p:nvPr/>
        </p:nvSpPr>
        <p:spPr>
          <a:xfrm>
            <a:off x="635000" y="5867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14300" rIns="0" bIns="114300" anchor="ctr"/>
          <a:lstStyle/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  <a:latin typeface="Aptos SemiBold"/>
              </a:rPr>
              <a:t>Not BI, automated. Analytical apps generated at the speed of prompting.</a:t>
            </a:r>
          </a:p>
        </p:txBody>
      </p:sp>
    </p:spTree>
    <p:extLst>
      <p:ext uri="{BB962C8B-B14F-4D97-AF65-F5344CB8AC3E}">
        <p14:creationId xmlns:p14="http://schemas.microsoft.com/office/powerpoint/2010/main" val="2308891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73E7F-2AB5-5F80-B86C-87267E958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15E946-B009-386F-2115-74FF7B49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3000" y="6350000"/>
            <a:ext cx="482600" cy="1778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E54A780-7CB0-054D-A35D-705A27504F57}" type="slidenum">
              <a:rPr kumimoji="0" lang="en-US" b="0" i="0" u="none" strike="noStrike" kern="0" cap="none" spc="0" normalizeH="0" baseline="0" noProof="0" smtClean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93E51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53966FE6-020F-51C5-B862-2CAD38EE4363}"/>
              </a:ext>
            </a:extLst>
          </p:cNvPr>
          <p:cNvSpPr txBox="1">
            <a:spLocks/>
          </p:cNvSpPr>
          <p:nvPr/>
        </p:nvSpPr>
        <p:spPr>
          <a:xfrm>
            <a:off x="406400" y="6350000"/>
            <a:ext cx="4114800" cy="17780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50" b="0" i="0" u="none" strike="noStrike" cap="none">
                <a:solidFill>
                  <a:schemeClr val="accent1"/>
                </a:solidFill>
                <a:latin typeface="Aptos Light" panose="020B00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93E51"/>
                </a:solidFill>
                <a:effectLst/>
                <a:uLnTx/>
                <a:uFillTx/>
                <a:latin typeface="Aptos" panose="020B0004020202020204" pitchFamily="34" charset="0"/>
                <a:sym typeface="Arial"/>
              </a:rPr>
              <a:t>Copyright © 2026 Exasol. All rights reserved.</a:t>
            </a:r>
          </a:p>
        </p:txBody>
      </p:sp>
      <p:sp>
        <p:nvSpPr>
          <p:cNvPr id="200" name="Title">
            <a:extLst>
              <a:ext uri="{FF2B5EF4-FFF2-40B4-BE49-F238E27FC236}">
                <a16:creationId xmlns:a16="http://schemas.microsoft.com/office/drawing/2014/main" id="{B5D0121C-610A-133E-6F97-546FBDB6B3B9}"/>
              </a:ext>
            </a:extLst>
          </p:cNvPr>
          <p:cNvSpPr/>
          <p:nvPr/>
        </p:nvSpPr>
        <p:spPr>
          <a:xfrm>
            <a:off x="406400" y="571500"/>
            <a:ext cx="1117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bIns="91440" anchor="t"/>
          <a:lstStyle/>
          <a:p>
            <a:pPr algn="l">
              <a:buNone/>
            </a:pPr>
            <a:r>
              <a:rPr lang="en-US" sz="3200" spc="-50" dirty="0">
                <a:solidFill>
                  <a:srgbClr val="093E51"/>
                </a:solidFill>
                <a:latin typeface="Aptos" panose="020B0004020202020204" pitchFamily="34" charset="0"/>
              </a:rPr>
              <a:t>Same data – </a:t>
            </a:r>
            <a:r>
              <a:rPr lang="en-US" sz="3200" spc="-50" dirty="0">
                <a:solidFill>
                  <a:srgbClr val="5FC33B"/>
                </a:solidFill>
                <a:latin typeface="Aptos" panose="020B0004020202020204" pitchFamily="34" charset="0"/>
              </a:rPr>
              <a:t>read four ways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E8E92C-98E1-9BB3-99C6-F5588E17EA32}"/>
              </a:ext>
            </a:extLst>
          </p:cNvPr>
          <p:cNvSpPr txBox="1"/>
          <p:nvPr/>
        </p:nvSpPr>
        <p:spPr>
          <a:xfrm>
            <a:off x="316854" y="1192823"/>
            <a:ext cx="11645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One e-commerce orders and inventory dataset lands in the warehouse once. The CFO, sales, operations and supply </a:t>
            </a:r>
          </a:p>
          <a:p>
            <a:r>
              <a:rPr lang="en-IN" dirty="0">
                <a:latin typeface="Aptos" panose="020B0004020202020204" pitchFamily="34" charset="0"/>
              </a:rPr>
              <a:t>chain teams each pull a dashboard from it the same afternoon, and none of them ask an analyst to write the SQL.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Card0">
            <a:extLst>
              <a:ext uri="{FF2B5EF4-FFF2-40B4-BE49-F238E27FC236}">
                <a16:creationId xmlns:a16="http://schemas.microsoft.com/office/drawing/2014/main" id="{F0472F44-C0C3-C07E-8A99-4674EB2E00DC}"/>
              </a:ext>
            </a:extLst>
          </p:cNvPr>
          <p:cNvSpPr/>
          <p:nvPr/>
        </p:nvSpPr>
        <p:spPr>
          <a:xfrm>
            <a:off x="406400" y="2184400"/>
            <a:ext cx="5537200" cy="1676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r>
              <a:rPr lang="en-US" sz="1600" b="1" spc="0" dirty="0">
                <a:solidFill>
                  <a:srgbClr val="5FC33B"/>
                </a:solidFill>
                <a:latin typeface="Aptos" panose="020B0004020202020204" pitchFamily="34" charset="0"/>
              </a:rPr>
              <a:t>01  </a:t>
            </a:r>
            <a:r>
              <a:rPr lang="en-US" dirty="0">
                <a:solidFill>
                  <a:srgbClr val="093E51"/>
                </a:solidFill>
                <a:latin typeface="Aptos" panose="020B0004020202020204" pitchFamily="34" charset="0"/>
              </a:rPr>
              <a:t> </a:t>
            </a:r>
            <a:r>
              <a:rPr lang="en-US" sz="2200" dirty="0">
                <a:solidFill>
                  <a:srgbClr val="093E51"/>
                </a:solidFill>
                <a:latin typeface="Aptos" panose="020B0004020202020204" pitchFamily="34" charset="0"/>
              </a:rPr>
              <a:t>CFO</a:t>
            </a:r>
            <a:endParaRPr lang="en-US" sz="2200" spc="0" dirty="0">
              <a:solidFill>
                <a:srgbClr val="093E51"/>
              </a:solidFill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Revenue, margin and discount impact, quarter over quarter</a:t>
            </a:r>
          </a:p>
          <a:p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Gross margin trend · discount-driven revenue loss</a:t>
            </a:r>
          </a:p>
          <a:p>
            <a:endParaRPr lang="en-US" sz="1500" b="1" spc="0" dirty="0">
              <a:solidFill>
                <a:srgbClr val="5FC33B"/>
              </a:solidFill>
              <a:latin typeface="Aptos" panose="020B0004020202020204" pitchFamily="34" charset="0"/>
            </a:endParaRPr>
          </a:p>
        </p:txBody>
      </p:sp>
      <p:sp>
        <p:nvSpPr>
          <p:cNvPr id="5" name="Card1">
            <a:extLst>
              <a:ext uri="{FF2B5EF4-FFF2-40B4-BE49-F238E27FC236}">
                <a16:creationId xmlns:a16="http://schemas.microsoft.com/office/drawing/2014/main" id="{A7A31454-02AB-7C48-3BBF-DA030D331975}"/>
              </a:ext>
            </a:extLst>
          </p:cNvPr>
          <p:cNvSpPr/>
          <p:nvPr/>
        </p:nvSpPr>
        <p:spPr>
          <a:xfrm>
            <a:off x="6248400" y="2184400"/>
            <a:ext cx="5537200" cy="1676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1600" b="1" spc="0" dirty="0">
                <a:solidFill>
                  <a:srgbClr val="5FC33B"/>
                </a:solidFill>
                <a:latin typeface="Aptos" panose="020B0004020202020204" pitchFamily="34" charset="0"/>
              </a:rPr>
              <a:t>02  </a:t>
            </a:r>
            <a:r>
              <a:rPr lang="en-US" sz="2200" spc="0" dirty="0">
                <a:solidFill>
                  <a:srgbClr val="093E51"/>
                </a:solidFill>
                <a:latin typeface="Aptos" panose="020B0004020202020204" pitchFamily="34" charset="0"/>
              </a:rPr>
              <a:t>Sales Manager</a:t>
            </a:r>
          </a:p>
          <a:p>
            <a:pPr algn="l">
              <a:buNone/>
            </a:pPr>
            <a:r>
              <a:rPr lang="en-US" sz="1700" spc="0" dirty="0">
                <a:solidFill>
                  <a:srgbClr val="093E51"/>
                </a:solidFill>
                <a:latin typeface="Aptos" panose="020B0004020202020204" pitchFamily="34" charset="0"/>
              </a:rPr>
              <a:t>The full analytics database for personal use</a:t>
            </a:r>
          </a:p>
          <a:p>
            <a:pPr algn="l">
              <a:buNone/>
            </a:pPr>
            <a:endParaRPr lang="en-US" sz="1700" spc="0" dirty="0">
              <a:solidFill>
                <a:srgbClr val="093E51"/>
              </a:solidFill>
              <a:latin typeface="Aptos" panose="020B0004020202020204" pitchFamily="34" charset="0"/>
            </a:endParaRP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Best sellers by region · conversion trend</a:t>
            </a:r>
          </a:p>
        </p:txBody>
      </p:sp>
      <p:sp>
        <p:nvSpPr>
          <p:cNvPr id="6" name="Card2">
            <a:extLst>
              <a:ext uri="{FF2B5EF4-FFF2-40B4-BE49-F238E27FC236}">
                <a16:creationId xmlns:a16="http://schemas.microsoft.com/office/drawing/2014/main" id="{E2A294E6-675C-26FD-7FE6-FC31C15349C0}"/>
              </a:ext>
            </a:extLst>
          </p:cNvPr>
          <p:cNvSpPr/>
          <p:nvPr/>
        </p:nvSpPr>
        <p:spPr>
          <a:xfrm>
            <a:off x="406400" y="3987800"/>
            <a:ext cx="5537200" cy="1676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pPr algn="l">
              <a:buNone/>
            </a:pPr>
            <a:r>
              <a:rPr lang="en-US" sz="1600" b="1" spc="0" dirty="0">
                <a:solidFill>
                  <a:srgbClr val="5FC33B"/>
                </a:solidFill>
                <a:latin typeface="Aptos" panose="020B0004020202020204" pitchFamily="34" charset="0"/>
              </a:rPr>
              <a:t>03  </a:t>
            </a:r>
            <a:r>
              <a:rPr lang="en-US" sz="2200" spc="0" dirty="0">
                <a:solidFill>
                  <a:srgbClr val="093E51"/>
                </a:solidFill>
                <a:latin typeface="Aptos" panose="020B0004020202020204" pitchFamily="34" charset="0"/>
              </a:rPr>
              <a:t>Operations Manager</a:t>
            </a:r>
          </a:p>
          <a:p>
            <a:r>
              <a:rPr lang="en-IN" dirty="0">
                <a:latin typeface="Aptos" panose="020B0004020202020204" pitchFamily="34" charset="0"/>
              </a:rPr>
              <a:t>Order fulfilment speed and warehouse throughput</a:t>
            </a:r>
          </a:p>
          <a:p>
            <a:endParaRPr lang="en-IN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Pick-to-ship time · return rate by category</a:t>
            </a:r>
          </a:p>
        </p:txBody>
      </p:sp>
      <p:sp>
        <p:nvSpPr>
          <p:cNvPr id="7" name="Card3">
            <a:extLst>
              <a:ext uri="{FF2B5EF4-FFF2-40B4-BE49-F238E27FC236}">
                <a16:creationId xmlns:a16="http://schemas.microsoft.com/office/drawing/2014/main" id="{E0481451-40EB-974B-22FE-CA7E7A4A1E99}"/>
              </a:ext>
            </a:extLst>
          </p:cNvPr>
          <p:cNvSpPr/>
          <p:nvPr/>
        </p:nvSpPr>
        <p:spPr>
          <a:xfrm>
            <a:off x="6248400" y="3987800"/>
            <a:ext cx="5537200" cy="1676400"/>
          </a:xfrm>
          <a:prstGeom prst="roundRect">
            <a:avLst>
              <a:gd name="adj" fmla="val 6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228600" tIns="114300" rIns="228600" bIns="114300" anchor="ctr"/>
          <a:lstStyle/>
          <a:p>
            <a:r>
              <a:rPr lang="en-US" sz="1600" b="1" spc="0" dirty="0">
                <a:solidFill>
                  <a:srgbClr val="5FC33B"/>
                </a:solidFill>
                <a:latin typeface="Aptos" panose="020B0004020202020204" pitchFamily="34" charset="0"/>
              </a:rPr>
              <a:t>04  </a:t>
            </a:r>
            <a:r>
              <a:rPr lang="en-IN" dirty="0">
                <a:latin typeface="Aptos" panose="020B0004020202020204" pitchFamily="34" charset="0"/>
              </a:rPr>
              <a:t> </a:t>
            </a:r>
            <a:r>
              <a:rPr lang="en-IN" sz="2200" b="1" dirty="0">
                <a:latin typeface="Aptos" panose="020B0004020202020204" pitchFamily="34" charset="0"/>
              </a:rPr>
              <a:t>Supply chain manager</a:t>
            </a:r>
            <a:endParaRPr lang="en-US" sz="2200" b="1" spc="0" dirty="0">
              <a:solidFill>
                <a:srgbClr val="093E51"/>
              </a:solidFill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Inventory turnover and supplier lead time</a:t>
            </a:r>
          </a:p>
          <a:p>
            <a:endParaRPr lang="en-IN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Stockout risk by SKU · reorder timing</a:t>
            </a:r>
          </a:p>
        </p:txBody>
      </p:sp>
      <p:sp>
        <p:nvSpPr>
          <p:cNvPr id="9" name="Bar">
            <a:extLst>
              <a:ext uri="{FF2B5EF4-FFF2-40B4-BE49-F238E27FC236}">
                <a16:creationId xmlns:a16="http://schemas.microsoft.com/office/drawing/2014/main" id="{3AAE4319-C722-4878-6168-BB75344EAEF5}"/>
              </a:ext>
            </a:extLst>
          </p:cNvPr>
          <p:cNvSpPr/>
          <p:nvPr/>
        </p:nvSpPr>
        <p:spPr>
          <a:xfrm>
            <a:off x="406400" y="5892800"/>
            <a:ext cx="63500" cy="381000"/>
          </a:xfrm>
          <a:prstGeom prst="rect">
            <a:avLst/>
          </a:prstGeom>
          <a:solidFill>
            <a:srgbClr val="5FC33B"/>
          </a:solidFill>
          <a:ln>
            <a:noFill/>
          </a:ln>
        </p:spPr>
        <p:txBody>
          <a:bodyPr wrap="square" lIns="0" tIns="114300" rIns="0" bIns="114300" anchor="t"/>
          <a:lstStyle/>
          <a:p>
            <a:pPr>
              <a:buNone/>
            </a:pPr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Callout">
            <a:extLst>
              <a:ext uri="{FF2B5EF4-FFF2-40B4-BE49-F238E27FC236}">
                <a16:creationId xmlns:a16="http://schemas.microsoft.com/office/drawing/2014/main" id="{568E9BB6-D10E-2207-B5CD-E3F432DA41C3}"/>
              </a:ext>
            </a:extLst>
          </p:cNvPr>
          <p:cNvSpPr/>
          <p:nvPr/>
        </p:nvSpPr>
        <p:spPr>
          <a:xfrm>
            <a:off x="635000" y="5867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14300" rIns="0" bIns="114300" anchor="ctr"/>
          <a:lstStyle/>
          <a:p>
            <a:r>
              <a:rPr lang="en-IN" sz="1700" dirty="0">
                <a:latin typeface="Aptos" panose="020B0004020202020204" pitchFamily="34" charset="0"/>
              </a:rPr>
              <a:t>Same schema, four dashboards. No human rewriting the SQL each time.</a:t>
            </a:r>
            <a:endParaRPr lang="en-US" sz="1700" spc="0" dirty="0">
              <a:solidFill>
                <a:srgbClr val="093E5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651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E7936-E0C6-AE00-DB5D-7A17D901E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14400"/>
            <a:ext cx="6350000" cy="1778000"/>
          </a:xfrm>
        </p:spPr>
        <p:txBody>
          <a:bodyPr anchor="t"/>
          <a:lstStyle/>
          <a:p>
            <a:pPr algn="l">
              <a:buNone/>
            </a:pPr>
            <a:r>
              <a:rPr lang="en-US" sz="1600" b="1" spc="200" dirty="0">
                <a:solidFill>
                  <a:srgbClr val="5FC33B"/>
                </a:solidFill>
              </a:rPr>
              <a:t>HACKATHON · REGISTRATION OPEN</a:t>
            </a:r>
          </a:p>
          <a:p>
            <a:pPr algn="l">
              <a:buNone/>
            </a:pPr>
            <a:r>
              <a:rPr lang="en-US" sz="4000" spc="-75" dirty="0">
                <a:solidFill>
                  <a:srgbClr val="093E51"/>
                </a:solidFill>
                <a:latin typeface="Aptos SemiBold"/>
              </a:rPr>
              <a:t>Exasol AI + Data Challenge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3F978-CFFF-17F1-FB1D-8EC8EEEC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3000" y="6350000"/>
            <a:ext cx="482600" cy="177800"/>
          </a:xfrm>
        </p:spPr>
        <p:txBody>
          <a:bodyPr/>
          <a:lstStyle/>
          <a:p>
            <a:fld id="{FE54A780-7CB0-054D-A35D-705A27504F57}" type="slidenum">
              <a:rPr lang="en-US" smtClean="0">
                <a:solidFill>
                  <a:srgbClr val="093E51"/>
                </a:solidFill>
              </a:rPr>
              <a:t>13</a:t>
            </a:fld>
            <a:endParaRPr lang="en-US">
              <a:solidFill>
                <a:srgbClr val="093E5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E5FCF-C697-29B6-36C7-A1A7A8A600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" y="6350000"/>
            <a:ext cx="4114800" cy="177800"/>
          </a:xfrm>
        </p:spPr>
        <p:txBody>
          <a:bodyPr/>
          <a:lstStyle/>
          <a:p>
            <a:r>
              <a:rPr lang="en-US">
                <a:solidFill>
                  <a:srgbClr val="093E51"/>
                </a:solidFill>
              </a:rPr>
              <a:t>Copyright © 2026 Exasol. All rights reserved.</a:t>
            </a:r>
          </a:p>
        </p:txBody>
      </p:sp>
      <p:sp>
        <p:nvSpPr>
          <p:cNvPr id="50" name="Rule"/>
          <p:cNvSpPr/>
          <p:nvPr/>
        </p:nvSpPr>
        <p:spPr>
          <a:xfrm>
            <a:off x="406400" y="2794000"/>
            <a:ext cx="1066800" cy="63500"/>
          </a:xfrm>
          <a:prstGeom prst="rect">
            <a:avLst/>
          </a:prstGeom>
          <a:solidFill>
            <a:srgbClr val="5FC33B"/>
          </a:solidFill>
          <a:ln>
            <a:noFill/>
          </a:ln>
        </p:spPr>
        <p:txBody>
          <a:bodyPr wrap="square" lIns="0" tIns="45720" rIns="0" bIns="45720" anchor="ctr">
            <a:normAutofit fontScale="25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51" name="Lead"/>
          <p:cNvSpPr/>
          <p:nvPr/>
        </p:nvSpPr>
        <p:spPr>
          <a:xfrm>
            <a:off x="406400" y="2971800"/>
            <a:ext cx="635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>
            <a:normAutofit/>
          </a:bodyPr>
          <a:lstStyle/>
          <a:p>
            <a:pPr algn="l">
              <a:buNone/>
            </a:pPr>
            <a:r>
              <a:rPr lang="en-US" sz="2400" spc="0" dirty="0">
                <a:solidFill>
                  <a:srgbClr val="093E51"/>
                </a:solidFill>
                <a:latin typeface="Aptos SemiBold"/>
              </a:rPr>
              <a:t>Build for 7 days. Win a slice of ₹85,000. Get your project judged by Exasol engineers.</a:t>
            </a:r>
          </a:p>
        </p:txBody>
      </p:sp>
      <p:sp>
        <p:nvSpPr>
          <p:cNvPr id="52" name="TLLine"/>
          <p:cNvSpPr/>
          <p:nvPr/>
        </p:nvSpPr>
        <p:spPr>
          <a:xfrm>
            <a:off x="558800" y="5003800"/>
            <a:ext cx="5969000" cy="38100"/>
          </a:xfrm>
          <a:prstGeom prst="rect">
            <a:avLst/>
          </a:prstGeom>
          <a:solidFill>
            <a:srgbClr val="F1F8EC"/>
          </a:solidFill>
          <a:ln>
            <a:noFill/>
          </a:ln>
        </p:spPr>
        <p:txBody>
          <a:bodyPr wrap="square" lIns="0" tIns="45720" rIns="0" bIns="45720" anchor="ctr">
            <a:normAutofit fontScale="25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53" name="Dot0"/>
          <p:cNvSpPr/>
          <p:nvPr/>
        </p:nvSpPr>
        <p:spPr>
          <a:xfrm>
            <a:off x="1219200" y="4914900"/>
            <a:ext cx="203200" cy="203200"/>
          </a:xfrm>
          <a:prstGeom prst="ellipse">
            <a:avLst/>
          </a:prstGeom>
          <a:solidFill>
            <a:srgbClr val="5FC33B"/>
          </a:solidFill>
          <a:ln>
            <a:noFill/>
          </a:ln>
        </p:spPr>
        <p:txBody>
          <a:bodyPr wrap="square" lIns="0" tIns="45720" rIns="0" bIns="45720" anchor="ctr">
            <a:normAutofit fontScale="25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54" name="TL0"/>
          <p:cNvSpPr/>
          <p:nvPr/>
        </p:nvSpPr>
        <p:spPr>
          <a:xfrm>
            <a:off x="330200" y="5207000"/>
            <a:ext cx="1981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>
            <a:normAutofit/>
          </a:bodyPr>
          <a:lstStyle/>
          <a:p>
            <a:pPr algn="ctr">
              <a:buNone/>
            </a:pPr>
            <a:r>
              <a:rPr lang="en-US" sz="1400" b="1" spc="0" dirty="0">
                <a:solidFill>
                  <a:srgbClr val="5FC33B"/>
                </a:solidFill>
              </a:rPr>
              <a:t>Registration closes</a:t>
            </a:r>
          </a:p>
          <a:p>
            <a:pPr algn="ctr">
              <a:buNone/>
            </a:pPr>
            <a:r>
              <a:rPr lang="en-US" sz="1800" spc="0" dirty="0">
                <a:solidFill>
                  <a:srgbClr val="093E51"/>
                </a:solidFill>
                <a:latin typeface="Aptos SemiBold"/>
              </a:rPr>
              <a:t>06 Sep 2026</a:t>
            </a:r>
          </a:p>
        </p:txBody>
      </p:sp>
      <p:sp>
        <p:nvSpPr>
          <p:cNvPr id="55" name="Dot1"/>
          <p:cNvSpPr/>
          <p:nvPr/>
        </p:nvSpPr>
        <p:spPr>
          <a:xfrm>
            <a:off x="3225800" y="4914900"/>
            <a:ext cx="203200" cy="203200"/>
          </a:xfrm>
          <a:prstGeom prst="ellipse">
            <a:avLst/>
          </a:prstGeom>
          <a:solidFill>
            <a:srgbClr val="5FC33B"/>
          </a:solidFill>
          <a:ln>
            <a:noFill/>
          </a:ln>
        </p:spPr>
        <p:txBody>
          <a:bodyPr wrap="square" lIns="0" tIns="45720" rIns="0" bIns="45720" anchor="ctr">
            <a:normAutofit fontScale="25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56" name="TL1"/>
          <p:cNvSpPr/>
          <p:nvPr/>
        </p:nvSpPr>
        <p:spPr>
          <a:xfrm>
            <a:off x="2336800" y="5207000"/>
            <a:ext cx="1981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>
            <a:normAutofit/>
          </a:bodyPr>
          <a:lstStyle/>
          <a:p>
            <a:pPr algn="ctr">
              <a:buNone/>
            </a:pPr>
            <a:r>
              <a:rPr lang="en-US" sz="1400" b="1" spc="0" dirty="0">
                <a:solidFill>
                  <a:srgbClr val="5FC33B"/>
                </a:solidFill>
              </a:rPr>
              <a:t>Build window</a:t>
            </a:r>
          </a:p>
          <a:p>
            <a:pPr algn="ctr">
              <a:buNone/>
            </a:pPr>
            <a:r>
              <a:rPr lang="en-US" sz="1800" spc="0" dirty="0">
                <a:solidFill>
                  <a:srgbClr val="093E51"/>
                </a:solidFill>
                <a:latin typeface="Aptos SemiBold"/>
              </a:rPr>
              <a:t>07–13 Sep</a:t>
            </a:r>
          </a:p>
        </p:txBody>
      </p:sp>
      <p:sp>
        <p:nvSpPr>
          <p:cNvPr id="57" name="Dot2"/>
          <p:cNvSpPr/>
          <p:nvPr/>
        </p:nvSpPr>
        <p:spPr>
          <a:xfrm>
            <a:off x="5232400" y="4914900"/>
            <a:ext cx="203200" cy="203200"/>
          </a:xfrm>
          <a:prstGeom prst="ellipse">
            <a:avLst/>
          </a:prstGeom>
          <a:solidFill>
            <a:srgbClr val="5FC33B"/>
          </a:solidFill>
          <a:ln>
            <a:noFill/>
          </a:ln>
        </p:spPr>
        <p:txBody>
          <a:bodyPr wrap="square" lIns="0" tIns="45720" rIns="0" bIns="45720" anchor="ctr">
            <a:normAutofit fontScale="25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58" name="TL2"/>
          <p:cNvSpPr/>
          <p:nvPr/>
        </p:nvSpPr>
        <p:spPr>
          <a:xfrm>
            <a:off x="4343400" y="5207000"/>
            <a:ext cx="1981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>
            <a:normAutofit/>
          </a:bodyPr>
          <a:lstStyle/>
          <a:p>
            <a:pPr algn="ctr">
              <a:buNone/>
            </a:pPr>
            <a:r>
              <a:rPr lang="en-US" sz="1400" b="1" spc="0" dirty="0">
                <a:solidFill>
                  <a:srgbClr val="5FC33B"/>
                </a:solidFill>
              </a:rPr>
              <a:t>Winners announced</a:t>
            </a:r>
          </a:p>
          <a:p>
            <a:pPr algn="ctr">
              <a:buNone/>
            </a:pPr>
            <a:r>
              <a:rPr lang="en-US" sz="1800" spc="0" dirty="0">
                <a:solidFill>
                  <a:srgbClr val="093E51"/>
                </a:solidFill>
                <a:latin typeface="Aptos SemiBold"/>
              </a:rPr>
              <a:t>21 Sep 2026</a:t>
            </a:r>
          </a:p>
        </p:txBody>
      </p:sp>
      <p:sp>
        <p:nvSpPr>
          <p:cNvPr id="62" name="PrizeCard"/>
          <p:cNvSpPr/>
          <p:nvPr/>
        </p:nvSpPr>
        <p:spPr>
          <a:xfrm>
            <a:off x="6959600" y="914400"/>
            <a:ext cx="4826000" cy="3200400"/>
          </a:xfrm>
          <a:prstGeom prst="roundRect">
            <a:avLst>
              <a:gd name="adj" fmla="val 8000"/>
            </a:avLst>
          </a:prstGeom>
          <a:solidFill>
            <a:srgbClr val="5FC33B"/>
          </a:solidFill>
          <a:ln>
            <a:noFill/>
          </a:ln>
        </p:spPr>
        <p:txBody>
          <a:bodyPr wrap="square" lIns="177800" tIns="45720" rIns="177800" bIns="45720" anchor="t">
            <a:normAutofit/>
          </a:bodyPr>
          <a:lstStyle/>
          <a:p>
            <a:pPr algn="l">
              <a:buNone/>
            </a:pPr>
            <a:r>
              <a:rPr lang="en-US" sz="1400" b="1" spc="200" dirty="0">
                <a:solidFill>
                  <a:srgbClr val="FFFFFF"/>
                </a:solidFill>
              </a:rPr>
              <a:t>TOTAL PRIZE POOL</a:t>
            </a:r>
          </a:p>
          <a:p>
            <a:pPr algn="l">
              <a:buNone/>
            </a:pPr>
            <a:r>
              <a:rPr lang="en-US" sz="4400" spc="0" dirty="0">
                <a:solidFill>
                  <a:srgbClr val="FFFFFF"/>
                </a:solidFill>
                <a:latin typeface="Aptos SemiBold"/>
              </a:rPr>
              <a:t>₹85,000</a:t>
            </a:r>
          </a:p>
        </p:txBody>
      </p:sp>
      <p:sp>
        <p:nvSpPr>
          <p:cNvPr id="70" name="Prize0"/>
          <p:cNvSpPr/>
          <p:nvPr/>
        </p:nvSpPr>
        <p:spPr>
          <a:xfrm>
            <a:off x="7264400" y="2387600"/>
            <a:ext cx="4216400" cy="482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127000" tIns="45720" rIns="127000" bIns="45720" anchor="ctr">
            <a:normAutofit/>
          </a:bodyPr>
          <a:lstStyle/>
          <a:p>
            <a:pPr algn="l">
              <a:buNone/>
            </a:pPr>
            <a:r>
              <a:rPr lang="en-US" sz="1800" spc="0" dirty="0">
                <a:solidFill>
                  <a:srgbClr val="093E51"/>
                </a:solidFill>
                <a:latin typeface="Aptos SemiBold"/>
              </a:rPr>
              <a:t>1st      ₹50,000</a:t>
            </a:r>
          </a:p>
        </p:txBody>
      </p:sp>
      <p:sp>
        <p:nvSpPr>
          <p:cNvPr id="71" name="Prize1"/>
          <p:cNvSpPr/>
          <p:nvPr/>
        </p:nvSpPr>
        <p:spPr>
          <a:xfrm>
            <a:off x="7264400" y="2946400"/>
            <a:ext cx="4216400" cy="482600"/>
          </a:xfrm>
          <a:prstGeom prst="roundRect">
            <a:avLst>
              <a:gd name="adj" fmla="val 20000"/>
            </a:avLst>
          </a:prstGeom>
          <a:solidFill>
            <a:srgbClr val="E4F3D8"/>
          </a:solidFill>
          <a:ln>
            <a:noFill/>
          </a:ln>
        </p:spPr>
        <p:txBody>
          <a:bodyPr wrap="square" lIns="127000" tIns="45720" rIns="127000" bIns="45720" anchor="ctr">
            <a:normAutofit/>
          </a:bodyPr>
          <a:lstStyle/>
          <a:p>
            <a:pPr algn="l">
              <a:buNone/>
            </a:pPr>
            <a:r>
              <a:rPr lang="en-US" sz="1800" spc="0" dirty="0">
                <a:solidFill>
                  <a:srgbClr val="093E51"/>
                </a:solidFill>
                <a:latin typeface="Aptos SemiBold"/>
              </a:rPr>
              <a:t>2nd      ₹25,000</a:t>
            </a:r>
          </a:p>
        </p:txBody>
      </p:sp>
      <p:sp>
        <p:nvSpPr>
          <p:cNvPr id="72" name="Prize2"/>
          <p:cNvSpPr/>
          <p:nvPr/>
        </p:nvSpPr>
        <p:spPr>
          <a:xfrm>
            <a:off x="7264400" y="3505200"/>
            <a:ext cx="4216400" cy="482600"/>
          </a:xfrm>
          <a:prstGeom prst="roundRect">
            <a:avLst>
              <a:gd name="adj" fmla="val 20000"/>
            </a:avLst>
          </a:prstGeom>
          <a:solidFill>
            <a:srgbClr val="E4F3D8"/>
          </a:solidFill>
          <a:ln>
            <a:noFill/>
          </a:ln>
        </p:spPr>
        <p:txBody>
          <a:bodyPr wrap="square" lIns="127000" tIns="45720" rIns="127000" bIns="45720" anchor="ctr">
            <a:normAutofit/>
          </a:bodyPr>
          <a:lstStyle/>
          <a:p>
            <a:pPr algn="l">
              <a:buNone/>
            </a:pPr>
            <a:r>
              <a:rPr lang="en-US" sz="1800" spc="0" dirty="0">
                <a:solidFill>
                  <a:srgbClr val="093E51"/>
                </a:solidFill>
                <a:latin typeface="Aptos SemiBold"/>
              </a:rPr>
              <a:t>3rd      ₹10,000</a:t>
            </a:r>
          </a:p>
        </p:txBody>
      </p:sp>
      <p:sp>
        <p:nvSpPr>
          <p:cNvPr id="80" name="Pill1"/>
          <p:cNvSpPr/>
          <p:nvPr/>
        </p:nvSpPr>
        <p:spPr>
          <a:xfrm>
            <a:off x="406400" y="4064000"/>
            <a:ext cx="2032000" cy="508000"/>
          </a:xfrm>
          <a:prstGeom prst="roundRect">
            <a:avLst>
              <a:gd name="adj" fmla="val 50000"/>
            </a:avLst>
          </a:prstGeom>
          <a:solidFill>
            <a:srgbClr val="F1F8EC"/>
          </a:solidFill>
          <a:ln>
            <a:noFill/>
          </a:ln>
        </p:spPr>
        <p:txBody>
          <a:bodyPr wrap="square" lIns="114300" tIns="0" rIns="114300" bIns="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93E51"/>
                </a:solidFill>
              </a:rPr>
              <a:t>Teams of 3 to 5</a:t>
            </a:r>
          </a:p>
        </p:txBody>
      </p:sp>
      <p:sp>
        <p:nvSpPr>
          <p:cNvPr id="81" name="Pill2"/>
          <p:cNvSpPr/>
          <p:nvPr/>
        </p:nvSpPr>
        <p:spPr>
          <a:xfrm>
            <a:off x="2540000" y="4064000"/>
            <a:ext cx="1778000" cy="508000"/>
          </a:xfrm>
          <a:prstGeom prst="roundRect">
            <a:avLst>
              <a:gd name="adj" fmla="val 50000"/>
            </a:avLst>
          </a:prstGeom>
          <a:solidFill>
            <a:srgbClr val="F1F8EC"/>
          </a:solidFill>
          <a:ln>
            <a:noFill/>
          </a:ln>
        </p:spPr>
        <p:txBody>
          <a:bodyPr wrap="square" lIns="114300" tIns="0" rIns="114300" bIns="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93E51"/>
                </a:solidFill>
              </a:rPr>
              <a:t>4 open tracks</a:t>
            </a:r>
          </a:p>
        </p:txBody>
      </p:sp>
      <p:sp>
        <p:nvSpPr>
          <p:cNvPr id="82" name="Pill3"/>
          <p:cNvSpPr/>
          <p:nvPr/>
        </p:nvSpPr>
        <p:spPr>
          <a:xfrm>
            <a:off x="4419600" y="4064000"/>
            <a:ext cx="2286000" cy="508000"/>
          </a:xfrm>
          <a:prstGeom prst="roundRect">
            <a:avLst>
              <a:gd name="adj" fmla="val 50000"/>
            </a:avLst>
          </a:prstGeom>
          <a:solidFill>
            <a:srgbClr val="F1F8EC"/>
          </a:solidFill>
          <a:ln>
            <a:noFill/>
          </a:ln>
        </p:spPr>
        <p:txBody>
          <a:bodyPr wrap="square" lIns="114300" tIns="0" rIns="114300" bIns="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93E51"/>
                </a:solidFill>
              </a:rPr>
              <a:t>Local, AWS or Azure</a:t>
            </a:r>
          </a:p>
        </p:txBody>
      </p:sp>
      <p:sp>
        <p:nvSpPr>
          <p:cNvPr id="90" name="QRCard"/>
          <p:cNvSpPr/>
          <p:nvPr/>
        </p:nvSpPr>
        <p:spPr>
          <a:xfrm>
            <a:off x="6959600" y="4267200"/>
            <a:ext cx="4826000" cy="1930400"/>
          </a:xfrm>
          <a:prstGeom prst="roundRect">
            <a:avLst>
              <a:gd name="adj" fmla="val 10000"/>
            </a:avLst>
          </a:prstGeom>
          <a:solidFill>
            <a:srgbClr val="F1F8EC"/>
          </a:solidFill>
          <a:ln>
            <a:noFill/>
          </a:ln>
        </p:spPr>
        <p:txBody>
          <a:bodyPr wrap="square" lIns="0" tIns="45720" rIns="0" bIns="45720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91" name="QRText"/>
          <p:cNvSpPr/>
          <p:nvPr/>
        </p:nvSpPr>
        <p:spPr>
          <a:xfrm>
            <a:off x="7188200" y="4724400"/>
            <a:ext cx="4394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>
            <a:normAutofit/>
          </a:bodyPr>
          <a:lstStyle/>
          <a:p>
            <a:pPr algn="l">
              <a:buNone/>
            </a:pPr>
            <a:r>
              <a:rPr lang="en-US" sz="1400" b="1" spc="200" dirty="0">
                <a:solidFill>
                  <a:srgbClr val="5FC33B"/>
                </a:solidFill>
              </a:rPr>
              <a:t>REGISTER YOUR TEAM AT</a:t>
            </a:r>
          </a:p>
          <a:p>
            <a:pPr algn="l">
              <a:buNone/>
            </a:pPr>
            <a:r>
              <a:rPr lang="en-US" sz="2000" spc="0" dirty="0">
                <a:solidFill>
                  <a:srgbClr val="093E51"/>
                </a:solidFill>
                <a:latin typeface="Aptos SemiBold"/>
              </a:rPr>
              <a:t>exasol.com/events/exasol-devjam</a:t>
            </a:r>
          </a:p>
          <a:p>
            <a:pPr algn="l">
              <a:buNone/>
            </a:pPr>
            <a:r>
              <a:rPr lang="en-US" sz="1500" spc="0" dirty="0">
                <a:solidFill>
                  <a:srgbClr val="093E51"/>
                </a:solidFill>
              </a:rPr>
              <a:t>Registration closes 06 Sep, 11:59 pm IST</a:t>
            </a:r>
          </a:p>
        </p:txBody>
      </p:sp>
    </p:spTree>
    <p:extLst>
      <p:ext uri="{BB962C8B-B14F-4D97-AF65-F5344CB8AC3E}">
        <p14:creationId xmlns:p14="http://schemas.microsoft.com/office/powerpoint/2010/main" val="3960890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30C85-141E-FB8E-0262-E94D0B4CE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30200"/>
            <a:ext cx="6858000" cy="685800"/>
          </a:xfrm>
        </p:spPr>
        <p:txBody>
          <a:bodyPr anchor="ctr"/>
          <a:lstStyle/>
          <a:p>
            <a:pPr algn="l">
              <a:buNone/>
            </a:pPr>
            <a:r>
              <a:rPr lang="en-US" sz="3200" spc="-50" dirty="0">
                <a:solidFill>
                  <a:srgbClr val="093E51"/>
                </a:solidFill>
                <a:latin typeface="Aptos SemiBold"/>
              </a:rPr>
              <a:t>Pick a track. Ship something real.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94270A-FA76-691D-8BA0-84E24369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3000" y="6350000"/>
            <a:ext cx="482600" cy="177800"/>
          </a:xfrm>
        </p:spPr>
        <p:txBody>
          <a:bodyPr/>
          <a:lstStyle/>
          <a:p>
            <a:fld id="{FE54A780-7CB0-054D-A35D-705A27504F57}" type="slidenum">
              <a:rPr lang="en-US" smtClean="0">
                <a:solidFill>
                  <a:srgbClr val="093E51"/>
                </a:solidFill>
              </a:rPr>
              <a:t>14</a:t>
            </a:fld>
            <a:endParaRPr lang="en-US">
              <a:solidFill>
                <a:srgbClr val="093E5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2F3524-EA2A-B736-43C0-1E169FAFB3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" y="6350000"/>
            <a:ext cx="4114800" cy="177800"/>
          </a:xfrm>
        </p:spPr>
        <p:txBody>
          <a:bodyPr/>
          <a:lstStyle/>
          <a:p>
            <a:r>
              <a:rPr lang="en-US">
                <a:solidFill>
                  <a:srgbClr val="093E51"/>
                </a:solidFill>
              </a:rPr>
              <a:t>Copyright © 2026 Exasol. All rights reserved.</a:t>
            </a:r>
          </a:p>
        </p:txBody>
      </p:sp>
      <p:sp>
        <p:nvSpPr>
          <p:cNvPr id="90" name="TitleRule"/>
          <p:cNvSpPr/>
          <p:nvPr/>
        </p:nvSpPr>
        <p:spPr>
          <a:xfrm>
            <a:off x="7442200" y="660400"/>
            <a:ext cx="4216400" cy="50800"/>
          </a:xfrm>
          <a:prstGeom prst="rect">
            <a:avLst/>
          </a:prstGeom>
          <a:solidFill>
            <a:srgbClr val="5FC33B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00" name="Track0"/>
          <p:cNvSpPr/>
          <p:nvPr/>
        </p:nvSpPr>
        <p:spPr>
          <a:xfrm>
            <a:off x="406400" y="1168400"/>
            <a:ext cx="2717800" cy="1905000"/>
          </a:xfrm>
          <a:prstGeom prst="roundRect">
            <a:avLst>
              <a:gd name="adj" fmla="val 8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52400" tIns="114300" rIns="114300" bIns="114300" anchor="ctr">
            <a:normAutofit/>
          </a:bodyPr>
          <a:lstStyle/>
          <a:p>
            <a:pPr marL="0" indent="0" algn="l">
              <a:buNone/>
            </a:pPr>
            <a:r>
              <a:rPr lang="en-US" sz="1800" spc="-25" dirty="0">
                <a:solidFill>
                  <a:srgbClr val="093E51"/>
                </a:solidFill>
                <a:latin typeface="Aptos SemiBold"/>
              </a:rPr>
              <a:t>AI agents that act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Multi-agent workflows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MCP-powered apps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Research &amp; analytics agents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Workflow automation</a:t>
            </a:r>
          </a:p>
        </p:txBody>
      </p:sp>
      <p:sp>
        <p:nvSpPr>
          <p:cNvPr id="101" name="Track1"/>
          <p:cNvSpPr/>
          <p:nvPr/>
        </p:nvSpPr>
        <p:spPr>
          <a:xfrm>
            <a:off x="3251200" y="1168400"/>
            <a:ext cx="2717800" cy="1905000"/>
          </a:xfrm>
          <a:prstGeom prst="roundRect">
            <a:avLst>
              <a:gd name="adj" fmla="val 8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52400" tIns="114300" rIns="114300" bIns="114300" anchor="ctr">
            <a:normAutofit/>
          </a:bodyPr>
          <a:lstStyle/>
          <a:p>
            <a:pPr marL="0" indent="0" algn="l">
              <a:buNone/>
            </a:pPr>
            <a:r>
              <a:rPr lang="en-US" sz="1800" spc="-25" dirty="0">
                <a:solidFill>
                  <a:srgbClr val="093E51"/>
                </a:solidFill>
                <a:latin typeface="Aptos SemiBold"/>
              </a:rPr>
              <a:t>Intelligent data apps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Conversational analytics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Natural-language BI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Recommendation engines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Data storytelling</a:t>
            </a:r>
          </a:p>
        </p:txBody>
      </p:sp>
      <p:sp>
        <p:nvSpPr>
          <p:cNvPr id="102" name="Track2"/>
          <p:cNvSpPr/>
          <p:nvPr/>
        </p:nvSpPr>
        <p:spPr>
          <a:xfrm>
            <a:off x="6096000" y="1168400"/>
            <a:ext cx="2717800" cy="1905000"/>
          </a:xfrm>
          <a:prstGeom prst="roundRect">
            <a:avLst>
              <a:gd name="adj" fmla="val 8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52400" tIns="114300" rIns="114300" bIns="114300" anchor="ctr">
            <a:normAutofit/>
          </a:bodyPr>
          <a:lstStyle/>
          <a:p>
            <a:pPr marL="0" indent="0" algn="l">
              <a:buNone/>
            </a:pPr>
            <a:r>
              <a:rPr lang="en-US" sz="1800" spc="-25" dirty="0">
                <a:solidFill>
                  <a:srgbClr val="093E51"/>
                </a:solidFill>
                <a:latin typeface="Aptos SemiBold"/>
              </a:rPr>
              <a:t>Trust &amp; governance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Agent guardrails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AI observability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Data lineage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Bias &amp; risk monitoring</a:t>
            </a:r>
          </a:p>
        </p:txBody>
      </p:sp>
      <p:sp>
        <p:nvSpPr>
          <p:cNvPr id="103" name="Track3"/>
          <p:cNvSpPr/>
          <p:nvPr/>
        </p:nvSpPr>
        <p:spPr>
          <a:xfrm>
            <a:off x="8940800" y="1168400"/>
            <a:ext cx="2717800" cy="1905000"/>
          </a:xfrm>
          <a:prstGeom prst="roundRect">
            <a:avLst>
              <a:gd name="adj" fmla="val 8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52400" tIns="114300" rIns="114300" bIns="114300" anchor="ctr">
            <a:normAutofit/>
          </a:bodyPr>
          <a:lstStyle/>
          <a:p>
            <a:pPr marL="0" indent="0" algn="l">
              <a:buNone/>
            </a:pPr>
            <a:r>
              <a:rPr lang="en-US" sz="1800" spc="-25" dirty="0">
                <a:solidFill>
                  <a:srgbClr val="093E51"/>
                </a:solidFill>
                <a:latin typeface="Aptos SemiBold"/>
              </a:rPr>
              <a:t>Predict &amp; optimise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Fraud &amp; anomaly detection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Demand forecasting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Predictive maintenance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Energy &amp; mobility</a:t>
            </a:r>
          </a:p>
        </p:txBody>
      </p:sp>
      <p:sp>
        <p:nvSpPr>
          <p:cNvPr id="110" name="Rules"/>
          <p:cNvSpPr/>
          <p:nvPr/>
        </p:nvSpPr>
        <p:spPr>
          <a:xfrm>
            <a:off x="406400" y="3378200"/>
            <a:ext cx="3683000" cy="1930400"/>
          </a:xfrm>
          <a:prstGeom prst="roundRect">
            <a:avLst>
              <a:gd name="adj" fmla="val 8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52400" tIns="114300" rIns="114300" bIns="114300" anchor="ctr">
            <a:normAutofit/>
          </a:bodyPr>
          <a:lstStyle/>
          <a:p>
            <a:pPr marL="0" indent="0" algn="l">
              <a:buNone/>
            </a:pPr>
            <a:r>
              <a:rPr lang="en-US" sz="1800" spc="-25" dirty="0">
                <a:solidFill>
                  <a:srgbClr val="093E51"/>
                </a:solidFill>
                <a:latin typeface="Aptos SemiBold"/>
              </a:rPr>
              <a:t>The rules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Teams of 3 to 5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Exasol Personal is mandatory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Run local, on AWS or Azure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Public GitHub repo</a:t>
            </a:r>
          </a:p>
        </p:txBody>
      </p:sp>
      <p:sp>
        <p:nvSpPr>
          <p:cNvPr id="111" name="Submit"/>
          <p:cNvSpPr/>
          <p:nvPr/>
        </p:nvSpPr>
        <p:spPr>
          <a:xfrm>
            <a:off x="4191000" y="3378200"/>
            <a:ext cx="3683000" cy="1930400"/>
          </a:xfrm>
          <a:prstGeom prst="roundRect">
            <a:avLst>
              <a:gd name="adj" fmla="val 8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52400" tIns="114300" rIns="114300" bIns="114300" anchor="ctr">
            <a:normAutofit/>
          </a:bodyPr>
          <a:lstStyle/>
          <a:p>
            <a:pPr marL="0" indent="0" algn="l">
              <a:buNone/>
            </a:pPr>
            <a:r>
              <a:rPr lang="en-US" sz="1800" spc="-25" dirty="0">
                <a:solidFill>
                  <a:srgbClr val="093E51"/>
                </a:solidFill>
                <a:latin typeface="Aptos SemiBold"/>
              </a:rPr>
              <a:t>What you submit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Repo with a clean README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Pitch deck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Demo video, max 3 min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Due 13 Sep, 11:59 pm IST</a:t>
            </a:r>
          </a:p>
        </p:txBody>
      </p:sp>
      <p:sp>
        <p:nvSpPr>
          <p:cNvPr id="112" name="Why"/>
          <p:cNvSpPr/>
          <p:nvPr/>
        </p:nvSpPr>
        <p:spPr>
          <a:xfrm>
            <a:off x="7975600" y="3378200"/>
            <a:ext cx="3683000" cy="1930400"/>
          </a:xfrm>
          <a:prstGeom prst="roundRect">
            <a:avLst>
              <a:gd name="adj" fmla="val 8000"/>
            </a:avLst>
          </a:prstGeom>
          <a:solidFill>
            <a:srgbClr val="F7FAF6"/>
          </a:solidFill>
          <a:ln w="9525">
            <a:solidFill>
              <a:srgbClr val="DCE6DF"/>
            </a:solidFill>
          </a:ln>
        </p:spPr>
        <p:txBody>
          <a:bodyPr wrap="square" lIns="152400" tIns="114300" rIns="114300" bIns="114300" anchor="ctr">
            <a:normAutofit/>
          </a:bodyPr>
          <a:lstStyle/>
          <a:p>
            <a:pPr marL="0" indent="0" algn="l">
              <a:buNone/>
            </a:pPr>
            <a:r>
              <a:rPr lang="en-US" sz="1800" spc="-25" dirty="0">
                <a:solidFill>
                  <a:srgbClr val="093E51"/>
                </a:solidFill>
                <a:latin typeface="Aptos SemiBold"/>
              </a:rPr>
              <a:t>What you walk away with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A share of ₹85,000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Feedback from Exasol engineers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A portfolio-ready AI project</a:t>
            </a:r>
          </a:p>
          <a:p>
            <a:pPr marL="171450" indent="-171450" algn="l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48626D"/>
                </a:solidFill>
              </a:rPr>
              <a:t>Winners announced 21 Sep</a:t>
            </a:r>
          </a:p>
        </p:txBody>
      </p:sp>
      <p:sp>
        <p:nvSpPr>
          <p:cNvPr id="120" name="CTALine"/>
          <p:cNvSpPr/>
          <p:nvPr/>
        </p:nvSpPr>
        <p:spPr>
          <a:xfrm>
            <a:off x="406400" y="5588000"/>
            <a:ext cx="11252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5FC33B"/>
                </a:solidFill>
              </a:rPr>
              <a:t>Any language, any framework, any LLM — register your team at exasol.com/events/exasol-devjam</a:t>
            </a:r>
          </a:p>
        </p:txBody>
      </p:sp>
    </p:spTree>
    <p:extLst>
      <p:ext uri="{BB962C8B-B14F-4D97-AF65-F5344CB8AC3E}">
        <p14:creationId xmlns:p14="http://schemas.microsoft.com/office/powerpoint/2010/main" val="1211619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7E214-3D5D-1846-DBF7-B49A23775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905000"/>
            <a:ext cx="11379200" cy="1143000"/>
          </a:xfrm>
        </p:spPr>
        <p:txBody>
          <a:bodyPr anchor="ctr"/>
          <a:lstStyle/>
          <a:p>
            <a:pPr algn="ctr">
              <a:buNone/>
            </a:pPr>
            <a:r>
              <a:rPr lang="en-US" sz="5400" spc="-75" dirty="0">
                <a:solidFill>
                  <a:srgbClr val="093E51"/>
                </a:solidFill>
                <a:latin typeface="Aptos SemiBold"/>
              </a:rPr>
              <a:t>Thank you</a:t>
            </a:r>
            <a:r>
              <a:rPr lang="en-US" sz="5400" spc="0" dirty="0">
                <a:solidFill>
                  <a:srgbClr val="5FC33B"/>
                </a:solidFill>
                <a:latin typeface="Aptos SemiBold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ED6F76-2F05-15DB-90D6-3D39A9D8F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3000" y="6350000"/>
            <a:ext cx="482600" cy="177800"/>
          </a:xfrm>
        </p:spPr>
        <p:txBody>
          <a:bodyPr/>
          <a:lstStyle/>
          <a:p>
            <a:fld id="{FE54A780-7CB0-054D-A35D-705A27504F57}" type="slidenum">
              <a:rPr lang="en-US" smtClean="0">
                <a:solidFill>
                  <a:srgbClr val="093E51"/>
                </a:solidFill>
              </a:rPr>
              <a:t>15</a:t>
            </a:fld>
            <a:endParaRPr lang="en-US">
              <a:solidFill>
                <a:srgbClr val="093E5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74849-D3D9-F751-6569-2A1D28B6B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" y="6350000"/>
            <a:ext cx="4114800" cy="177800"/>
          </a:xfrm>
        </p:spPr>
        <p:txBody>
          <a:bodyPr/>
          <a:lstStyle/>
          <a:p>
            <a:r>
              <a:rPr lang="en-US">
                <a:solidFill>
                  <a:srgbClr val="093E51"/>
                </a:solidFill>
              </a:rPr>
              <a:t>Copyright © 2026 Exasol. All rights reserved.</a:t>
            </a:r>
          </a:p>
        </p:txBody>
      </p:sp>
      <p:sp>
        <p:nvSpPr>
          <p:cNvPr id="210" name="Rule"/>
          <p:cNvSpPr/>
          <p:nvPr/>
        </p:nvSpPr>
        <p:spPr>
          <a:xfrm>
            <a:off x="5461000" y="3276600"/>
            <a:ext cx="1270000" cy="50800"/>
          </a:xfrm>
          <a:prstGeom prst="rect">
            <a:avLst/>
          </a:prstGeom>
          <a:solidFill>
            <a:srgbClr val="5FC33B"/>
          </a:solidFill>
          <a:ln>
            <a:noFill/>
          </a:ln>
        </p:spPr>
        <p:txBody>
          <a:bodyPr wrap="square" lIns="0" tIns="68580" rIns="0" bIns="68580" anchor="ctr"/>
          <a:lstStyle/>
          <a:p>
            <a:pPr>
              <a:buNone/>
            </a:pPr>
            <a:endParaRPr lang="en-US"/>
          </a:p>
        </p:txBody>
      </p:sp>
      <p:sp>
        <p:nvSpPr>
          <p:cNvPr id="211" name="Sub"/>
          <p:cNvSpPr/>
          <p:nvPr/>
        </p:nvSpPr>
        <p:spPr>
          <a:xfrm>
            <a:off x="406400" y="3530600"/>
            <a:ext cx="11379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68580" rIns="0" bIns="68580" anchor="ctr"/>
          <a:lstStyle/>
          <a:p>
            <a:pPr algn="ctr">
              <a:buNone/>
            </a:pPr>
            <a:r>
              <a:rPr lang="en-US" sz="2000" spc="0" dirty="0">
                <a:solidFill>
                  <a:srgbClr val="48626D"/>
                </a:solidFill>
              </a:rPr>
              <a:t>Questions? Come find the Exasol team at DevJams’26.</a:t>
            </a:r>
          </a:p>
        </p:txBody>
      </p:sp>
      <p:sp>
        <p:nvSpPr>
          <p:cNvPr id="212" name="CTA"/>
          <p:cNvSpPr/>
          <p:nvPr/>
        </p:nvSpPr>
        <p:spPr>
          <a:xfrm>
            <a:off x="3556000" y="4216400"/>
            <a:ext cx="5080000" cy="736600"/>
          </a:xfrm>
          <a:prstGeom prst="roundRect">
            <a:avLst>
              <a:gd name="adj" fmla="val 14000"/>
            </a:avLst>
          </a:prstGeom>
          <a:solidFill>
            <a:srgbClr val="F1F8EC"/>
          </a:solidFill>
          <a:ln w="12700">
            <a:solidFill>
              <a:srgbClr val="5FC33B"/>
            </a:solidFill>
          </a:ln>
        </p:spPr>
        <p:txBody>
          <a:bodyPr wrap="square" lIns="114300" tIns="68580" rIns="114300" bIns="68580" anchor="ctr"/>
          <a:lstStyle/>
          <a:p>
            <a:pPr algn="ctr">
              <a:buNone/>
            </a:pPr>
            <a:r>
              <a:rPr lang="en-US" sz="1800" spc="0" dirty="0">
                <a:solidFill>
                  <a:srgbClr val="093E51"/>
                </a:solidFill>
                <a:latin typeface="Aptos SemiBold"/>
              </a:rPr>
              <a:t>Register: exasol.com/events/exasol-devjam</a:t>
            </a:r>
          </a:p>
        </p:txBody>
      </p:sp>
      <p:sp>
        <p:nvSpPr>
          <p:cNvPr id="213" name="Closer"/>
          <p:cNvSpPr/>
          <p:nvPr/>
        </p:nvSpPr>
        <p:spPr>
          <a:xfrm>
            <a:off x="406400" y="51308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68580" rIns="0" bIns="68580" anchor="ctr"/>
          <a:lstStyle/>
          <a:p>
            <a:pPr algn="ctr">
              <a:buNone/>
            </a:pPr>
            <a:r>
              <a:rPr lang="en-US" sz="1600" b="1" spc="0" dirty="0">
                <a:solidFill>
                  <a:srgbClr val="5FC33B"/>
                </a:solidFill>
              </a:rPr>
              <a:t>Bring the idea. Build something that matters.</a:t>
            </a:r>
          </a:p>
        </p:txBody>
      </p:sp>
    </p:spTree>
    <p:extLst>
      <p:ext uri="{BB962C8B-B14F-4D97-AF65-F5344CB8AC3E}">
        <p14:creationId xmlns:p14="http://schemas.microsoft.com/office/powerpoint/2010/main" val="10542114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4_Light Theme">
  <a:themeElements>
    <a:clrScheme name="Custom 4">
      <a:dk1>
        <a:srgbClr val="093E51"/>
      </a:dk1>
      <a:lt1>
        <a:srgbClr val="093E51"/>
      </a:lt1>
      <a:dk2>
        <a:srgbClr val="5FC33B"/>
      </a:dk2>
      <a:lt2>
        <a:srgbClr val="5FC33B"/>
      </a:lt2>
      <a:accent1>
        <a:srgbClr val="FEFFFF"/>
      </a:accent1>
      <a:accent2>
        <a:srgbClr val="F2F2F2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asol_Brand_Template_2025_v1" id="{7A56264A-9AC1-594C-9F86-5E13A8E1DB96}" vid="{76BAAFDD-14E1-B94F-826D-FE0821AFC2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C89F7BF-6A1B-574D-8A50-371EC3072FE6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d02e5935-7d5f-457e-802c-38d68c42cd04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53B4FED-2ABD-F74E-81E2-258BFB12EE7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69597eb1-8a17-4f34-94be-8a2b6c35833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5582</TotalTime>
  <Words>1253</Words>
  <Application>Microsoft Macintosh PowerPoint</Application>
  <PresentationFormat>Widescreen</PresentationFormat>
  <Paragraphs>247</Paragraphs>
  <Slides>15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Light</vt:lpstr>
      <vt:lpstr>Aptos SemiBold</vt:lpstr>
      <vt:lpstr>Arial</vt:lpstr>
      <vt:lpstr>Consolas</vt:lpstr>
      <vt:lpstr>4_Light Theme</vt:lpstr>
      <vt:lpstr>think-cell Folie</vt:lpstr>
      <vt:lpstr>DevJams’26</vt:lpstr>
      <vt:lpstr>PowerPoint Presentation</vt:lpstr>
      <vt:lpstr>Workshop &amp; Live Demo  Yuvaraj M Product Evangelist, Exasol  Hands-on with Exasol Personal, agent-oriented analytics on your own laptop.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HACKATHON · REGISTRATION OPEN Exasol AI + Data Challenge 2026</vt:lpstr>
      <vt:lpstr>Pick a track. Ship something real.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Ranjan Moses</dc:creator>
  <cp:lastModifiedBy>Yuvaraj Muniyandi</cp:lastModifiedBy>
  <cp:revision>7</cp:revision>
  <dcterms:created xsi:type="dcterms:W3CDTF">2026-08-27T06:30:31Z</dcterms:created>
  <dcterms:modified xsi:type="dcterms:W3CDTF">2026-09-17T05:47:01Z</dcterms:modified>
</cp:coreProperties>
</file>